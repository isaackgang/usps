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3"/>
  </p:notesMasterIdLst>
  <p:sldIdLst>
    <p:sldId id="256" r:id="rId2"/>
    <p:sldId id="257" r:id="rId3"/>
    <p:sldId id="258" r:id="rId4"/>
    <p:sldId id="288" r:id="rId5"/>
    <p:sldId id="289" r:id="rId6"/>
    <p:sldId id="290" r:id="rId7"/>
    <p:sldId id="291" r:id="rId8"/>
    <p:sldId id="292" r:id="rId9"/>
    <p:sldId id="293" r:id="rId10"/>
    <p:sldId id="349" r:id="rId11"/>
    <p:sldId id="294" r:id="rId12"/>
    <p:sldId id="262" r:id="rId13"/>
    <p:sldId id="295" r:id="rId14"/>
    <p:sldId id="300" r:id="rId15"/>
    <p:sldId id="301" r:id="rId16"/>
    <p:sldId id="306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50" r:id="rId44"/>
    <p:sldId id="304" r:id="rId45"/>
    <p:sldId id="302" r:id="rId46"/>
    <p:sldId id="303" r:id="rId47"/>
    <p:sldId id="336" r:id="rId48"/>
    <p:sldId id="337" r:id="rId49"/>
    <p:sldId id="351" r:id="rId50"/>
    <p:sldId id="338" r:id="rId51"/>
    <p:sldId id="339" r:id="rId52"/>
    <p:sldId id="340" r:id="rId53"/>
    <p:sldId id="341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264" r:id="rId62"/>
    <p:sldId id="297" r:id="rId63"/>
    <p:sldId id="352" r:id="rId64"/>
    <p:sldId id="353" r:id="rId65"/>
    <p:sldId id="354" r:id="rId66"/>
    <p:sldId id="355" r:id="rId67"/>
    <p:sldId id="356" r:id="rId68"/>
    <p:sldId id="269" r:id="rId69"/>
    <p:sldId id="298" r:id="rId70"/>
    <p:sldId id="358" r:id="rId71"/>
    <p:sldId id="359" r:id="rId72"/>
    <p:sldId id="360" r:id="rId73"/>
    <p:sldId id="361" r:id="rId74"/>
    <p:sldId id="357" r:id="rId75"/>
    <p:sldId id="363" r:id="rId76"/>
    <p:sldId id="364" r:id="rId77"/>
    <p:sldId id="365" r:id="rId78"/>
    <p:sldId id="366" r:id="rId79"/>
    <p:sldId id="367" r:id="rId80"/>
    <p:sldId id="368" r:id="rId81"/>
    <p:sldId id="369" r:id="rId82"/>
    <p:sldId id="370" r:id="rId83"/>
    <p:sldId id="371" r:id="rId84"/>
    <p:sldId id="372" r:id="rId85"/>
    <p:sldId id="373" r:id="rId86"/>
    <p:sldId id="374" r:id="rId87"/>
    <p:sldId id="375" r:id="rId88"/>
    <p:sldId id="376" r:id="rId89"/>
    <p:sldId id="283" r:id="rId90"/>
    <p:sldId id="299" r:id="rId91"/>
    <p:sldId id="377" r:id="rId92"/>
    <p:sldId id="378" r:id="rId93"/>
    <p:sldId id="379" r:id="rId94"/>
    <p:sldId id="380" r:id="rId95"/>
    <p:sldId id="381" r:id="rId96"/>
    <p:sldId id="382" r:id="rId97"/>
    <p:sldId id="383" r:id="rId98"/>
    <p:sldId id="384" r:id="rId99"/>
    <p:sldId id="385" r:id="rId100"/>
    <p:sldId id="386" r:id="rId101"/>
    <p:sldId id="387" r:id="rId102"/>
    <p:sldId id="388" r:id="rId103"/>
    <p:sldId id="389" r:id="rId104"/>
    <p:sldId id="390" r:id="rId105"/>
    <p:sldId id="391" r:id="rId106"/>
    <p:sldId id="392" r:id="rId107"/>
    <p:sldId id="393" r:id="rId108"/>
    <p:sldId id="394" r:id="rId109"/>
    <p:sldId id="395" r:id="rId110"/>
    <p:sldId id="286" r:id="rId111"/>
    <p:sldId id="287" r:id="rId1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495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0AD8B-B8F1-0A51-3EF4-C36C2A5C1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AFD86-CAB6-9971-1F4A-433B81AC0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C1AF4-EAFD-3FBF-6033-77ADAE522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F0E04-BB84-A42B-82DA-38029873D0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22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C52A-C731-2360-BC31-05048878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10E27-4A83-1E0C-9687-B59E1C4D9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3FECD-EF67-D43B-2190-B621ADF48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4B2DE-D476-187A-6371-47F3825545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70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887A5-7A49-3266-248C-8E51A9D5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95711-5A68-29AD-8EC6-35CB1C00A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C5B5A-AF86-8DC3-7872-4C2EE63DD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972CB-44A0-8063-18D2-E3F0A65D4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74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C4E4D-0EDC-C2FC-4180-6FF55E997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88965-C4AE-0232-BD77-6C0424178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0C6C0-0725-D00A-FCCD-725688E55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D7890-8E3E-8CC1-0DF8-9E7AD18F6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99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A6B0-3EFF-551B-CCFD-159C9D16F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D4DFB-78B5-2B61-E37C-877491FE4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7783F-C29A-8773-4091-66D7B5C23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6FD12-3261-8295-A2BF-CEFAA44CBF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23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4446-93CF-BF7D-376C-8D99E674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94497-6177-7974-DEAD-E738A328D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87039-7C7B-ED7F-55AA-62BCB3F1D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5BDE4-AB09-DA60-246B-4F3205BE2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37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B118-0F49-B311-F64D-5775AF78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B3B6B-8271-3F8B-1D2C-AE0126E3C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3A09C-8A74-B594-8689-45EA81BD3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11132-F573-19C6-81AE-0BC6A82196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29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79610-EBC7-8735-D566-9478ABBD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EAFE0-4409-EC53-FD41-4B2BFF6CC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CA635-0ED1-04C1-A23C-AFBA90F8F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4440F-2BB8-C0FC-0E98-0D0354A8D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55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A8E95-8F4A-C92A-FA6F-2BD65341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0E0A9-044B-3587-6A85-901D8ABEF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3801C-4827-AF4D-49E3-720AAC65A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5F81F-4759-1A7C-41F9-D9E97104C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97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A8B0-25AA-19C7-5B73-11AF328A4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1699E-1B9F-49C6-A87A-7D840AF58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2EC03-6C84-9CFA-3E20-151E6E5B5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5B09D-A3FC-1B4F-BDBC-6192AF6BB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78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09BFB-FB6B-F080-6E3D-3BA2594D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A44CA-6F65-4232-D38F-526A7F1AC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6119D-EBE6-1495-2594-4D4C81208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E345C-E936-ED7A-C66C-F1424FC6C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09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50DB8-CA84-C37A-1360-9D35C4F1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C0FD9-6453-1892-C37E-13651865F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A5CE5-E42E-DBEA-0421-E421FD494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D3825-3F3D-0FB0-FE35-1935CF12A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37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121DA-CA4F-EBAC-5B3C-69F402635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9F478-2FCD-1C5D-3027-58ED8CA24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3A29C-9B9C-0444-B6F3-FF3B7440B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FE16-02DA-348B-2A3E-F717B4B48A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387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9B774-C665-479F-6F63-D4938458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A2E17-4E82-7492-FD9E-B940CF2BF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83216-1913-C944-E883-8FAD4D764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16908-D312-C108-5E0F-7AFEF5959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860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74874-0AFA-F5AC-2D5E-5D7FA804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A60E9-5F93-D254-B312-230E1A0EE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B5FF8-37E9-91D1-36B4-014DB2D93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A18E5-FEC1-B2DE-D712-2C59ADC792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72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43A2-438A-FEFB-EAEA-85A2F7F9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1D53A-1F04-C94D-4B3C-311122D6C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2E72B-CE9A-ACC8-4E49-B114F136C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A8DF1-A44A-AAA3-9A91-96DEE36B5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36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10F5-7FB2-302F-6A11-71D63CFA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4D489-2BE2-6ECA-C44B-E845D1528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16B99-2D1C-62EB-1572-A30872BBD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6B305-1D52-306A-68D5-862B7CEEA0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17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1B89-EB4C-A53C-B6C5-B3936BCE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01CA3-3180-E13B-E873-174F1381B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8FCB9-3F44-BF92-B726-CE9A5F048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3E3DF-5570-8A28-7305-653FA614B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407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FC31F-6BF5-CD04-4B78-C4CD25E7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F72A9-E993-3D6F-0C01-CBD035956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2D13B-ADD2-2271-F805-E1A892424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5CE2E-0EE7-1F7D-8DED-5F3803600B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218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487E5-1A21-AE0A-ECB8-BCA7BA172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559907-4500-39CF-7A1F-E8C8C7D40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6C029-EA8B-2D4E-4E0E-C2B0FECA7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33B88-73F2-70DF-5114-C3381DF92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192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BE41-838B-6B65-7054-D5A155B1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8118D-F396-5F19-836D-67FAEA9EF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88DFD-DA29-247E-D785-25F4B8E34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EC5F9-BAF1-E99F-6C50-D12954355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611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0C309-C76C-407B-0E63-DCB2B812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B8191-D8F6-EE3A-BE93-41DA2FB75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A5D88-6E8F-A1E4-90D5-9EDC1A2D0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2926A-D23F-54BF-EFBA-E80463898A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738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9E66B-0973-D85F-0785-2C79176F5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345E2-DBAF-D044-3F6A-8946BB5D3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3E0EF-EACE-95BB-86A0-B3C443B9C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0D7E6-220F-300B-0BF3-F2E593016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972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7909-1C94-AFB1-4DAA-5768BE76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D5E2A-C742-F3FC-F1E3-9B6536A47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2E8C4-42BF-94D1-E356-1A27EF949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91E7E-C704-1772-7808-CE877FFC08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929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3B5F-9466-988A-7F75-6A4ED1F42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A011C-FA73-336B-07AB-A7CC3791C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36DE4-B17C-FCB2-6001-482991A70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7E20B-1B8C-F8DB-00F7-F0EA2C8E0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898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3364-BABE-0052-23C8-B29B6F7B2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F4B25-F89D-7449-82C1-EBEC7116E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CF717-B56D-A1C3-DFD2-1A4C85DB4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F8870-C627-08FD-29D6-AB222462B0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569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D831A-78B9-0A2E-0B14-75B586E7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CDFBC-2933-5F46-33F2-29F42E98A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121B9-4CDA-3F4C-FF03-AFB3FB54E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5A49F-26A5-1524-61A2-E72637E24F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38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0CA25-4DEE-944C-E893-46BB57AD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A66D4-E5A2-0590-C2B3-9D0942CD2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4EB97-AF66-C98E-C536-411CEE91A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373F4-093B-155D-C5B6-61D935344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03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E8B8D-CF3F-A610-C0B5-C2B41063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F5BA9-8FF1-7569-C196-59C03C35B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50F00-1469-3D76-4001-785AA7041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50049-7ACF-D320-07F4-EF1BFEF812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47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0612-F157-8C0B-0BD0-A71B58D9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71A66-534D-B7F6-68A8-6AE878141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480F2-25CC-1407-CA3C-8FAC79C49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204C5-CACB-2ACD-B412-45B1668C7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83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B5355-E9C5-5A8A-687B-4F1CD9F14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CB5F2-70C3-1B9B-021F-ACE96C972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D9A17-E7D2-01DE-859B-7399964CF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AEF13-55E7-2AB3-5212-EC2459143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287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12AB9-71AF-8D8D-9C06-8DA67E09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0812B-5BFA-A88E-3537-E9774F70A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D6033-EF3C-210D-422B-E379E095B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A776B-CAB2-CBE6-A344-5D8B26100D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454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4FB36-1592-DD11-45E7-28B2EA21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D3E92-AD39-C2C3-C637-FAD19580D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DBDA9-6098-1CD7-89BF-72ECD9EDD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808CD-2866-CF92-B448-2A872E61A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787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B3B8-C5BC-9472-3819-89EAD96E3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8BC9A-7A10-1098-6701-1708A64B0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7CCD1-1538-E0F4-4F3D-CC80EE33D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0D48A-3EA4-6BCD-6774-47F92C41C2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775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071B6-332C-BAC7-289F-90747480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4D86F-CC28-A358-EEB7-0D422AB12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F784E-D182-D3E4-3BA7-3550EACE8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B8EE2-2CC0-8F19-9144-62152EEF9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287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221B-EF76-BC04-1381-A324C6B6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B51C8-B4A3-AE44-308B-C33EC1E6A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1E510-03E4-8116-E406-512BF62B5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7AD2E-52EC-30F5-5B50-84E2F8DE3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432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D6EE8-0EC0-EA2A-AC2D-012B9E375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09A08-BD87-70C6-E487-BC49C8F93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68E43-85CB-AA91-9B6A-9E4381788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CFBD7-5528-4A4F-ACA8-C271E6A1E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263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8F636-7A01-5D7F-3BFB-FFD4B15D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51B1E-1B36-6897-A095-1C58D729A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CE5E4-0DB5-D9FB-F351-0BA87EAA7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1F8B0-4610-3E9D-B4ED-9E5F334556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810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EC3C-C3E5-C58D-E37F-56377E89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8B71D-F06E-9E61-EB3F-52039F1A2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A6E79-5EDF-4EB7-8B26-29B8BABCA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CEC1E-A09F-5571-43F3-226098C5B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263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EEF90-B623-06BD-F01D-376A4F6F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C7649-B1A9-8002-8B25-25B6FF202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4F441-EE2C-4465-4EC2-793B8FD44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64C1C-8488-572C-54F8-7FD6EB222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7999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E9C3B-A82B-622A-BBC7-2FC3826C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DB8C2-AE66-8A6C-7FDE-725DF8C01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B1EB8-F315-BC1D-9CB6-3A94AEB17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E9DA8-1B9B-8DC6-00E3-1E8773B2F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078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03069-8011-9290-324B-A0372279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D9738-D5BB-6D44-3247-2E953643F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403E6-2C74-7A8C-2C66-996B123A1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54D9F-8FC8-0A8D-D183-100CF756C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091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B68D-B011-AFCD-6F11-46DB4E413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ECAE0-3674-E22B-DABC-18E88DF2C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BED20-FD67-B971-9A25-580EA7C5F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C273A-8A9B-39B1-F0E6-3FE99EC41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670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B3E1-FDD0-0008-214E-3CE708C1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ACBB0-41CB-C12A-9F95-0B89C827B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04CA5-AD0F-0DBF-F6F2-585980693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14275-11C3-0E3E-DCAC-CB8508CAA7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275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291FF-B396-7688-E17F-CE1AE12A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DA63D-B9B7-5959-77E4-F61C1BB7E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C6C11-1D8E-78C7-A79E-90F3C6BCB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3B0B3-43E8-1083-97A6-208C994837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290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6A0F7-798B-7FB5-C028-0DF09B571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1960C-62DC-2BAA-045A-45B8FD18F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CF0AE-768A-72B3-5B00-60EE7E7E0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24598-5414-E125-35C5-EBE67BE8F3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6131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C22F9-BD0D-A906-0E97-474270CE4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B6A82-212B-6935-0A09-EC9F40983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B8CDF-88FA-B346-3BD0-A0D3E2CE6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11A59-78D8-E1DD-1FFE-8F788BFAE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4204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AE3F3-E584-155E-C34E-360728FE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B4BB8-052A-461E-3D85-0B4A2E63F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55A6D-FB60-0CC4-1903-C66D88277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53F30-F1E2-457E-BFFC-23C6D468F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038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8C7F-00D4-B87E-87EB-88BF55F17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3EBF9-9002-925E-D3EE-2A46695FF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92D05-5718-5048-5A55-F8F534443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50DDD-BF88-C605-2546-4586CF39F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550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0B093-266B-00C4-9EE4-ED4976AB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03F2D-F556-256F-FB74-9E2F723C1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12D14-30EE-DD44-91CA-9FCCD0AEB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4A075-AE3E-4E3B-100F-49CB2464C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1836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17AC-AD87-AB06-07D6-F087B503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4BF18-B306-6E71-6127-30A290669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EA839-4B61-3E29-94EB-5DC8D521B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6D315-BCF1-9B60-6465-DFA8651ED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9352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BC29A-16CE-6521-0C45-2C2C8C9F3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B6C3B-A69E-F88A-D75B-134D2B850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30022-F11F-7C03-77B9-D58B7C183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930D9-1FF6-3631-2D2C-6FF3A2621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02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860A9-262A-B975-188A-A1B2DCE0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8BB9B-6D5B-E3C3-E3CA-9ECBAAA53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38AAC-70CC-AB8D-7A19-7A9D80F28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7E0F4-5D02-9083-BB73-B9404A548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430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BB6FA-99C3-40A2-48AC-EA6DACF9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A1324-8D76-9B0D-B55C-CE7E35558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E450B-7F38-D344-794A-18D032E06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4726F-96AA-BC13-413E-F15F0079EF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8128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664A-A147-9949-6DEF-1D164570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B362C-3E80-FB3B-7653-FF0E6C149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DBE76-D677-27B8-DFC2-0210C1297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FEA44-47D6-7897-2943-51CD57B08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5737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F05A1-F975-75AA-3810-D698DB92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1A5CD-3964-A370-2F86-5995BBD70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CA7FC-00FE-2ECA-C37D-B70D2F76A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D488B-E3C2-64DC-EB9A-2FEF268ED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67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94B67-E4ED-6B27-F206-EC960A681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3F2CF-8896-B2C4-0ECD-74DE6F506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C4B6F-9F25-CFE4-6B83-B325FE6C0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A203D-0B73-F748-CA83-201B06BF8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0959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63870-9789-4EFC-4D0C-11765A35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7D407-2500-450D-C0C7-9D7E914C9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6B6DE-7FB3-2C2B-CD25-B734660BD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3C9CA-0066-23E4-CD6B-CB0AC88D48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6756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E72F3-FD9F-25A0-7C18-CA156024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91E02-DFEB-F417-C056-A52A6AC47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11FFF-959D-4D09-8D87-C2DF32A31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EA463-8E2C-7539-85F8-EEB350EA3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9466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65234-792C-7412-1EA5-7F16CE94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72506-5D92-4656-8F17-F4F6F8FBE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AFC96-C816-84D4-2483-110E0D79D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3CBC9-052D-B842-9D07-AFF866F03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6070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82A8B-2CCE-692C-36F5-341B91C6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4582F-D491-4868-9F98-F1509A3F5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A5635-0AB7-06B0-26E0-B606B9D6D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3B8B9-7F27-E4DE-DF1E-7689D4D9C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547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45D7-CC74-55EB-8F44-E5FA9F56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7CA66-D421-FA8C-85E6-44856C6F8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4CCAD-1313-5A65-B141-2EFDC9505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DC07C-8A0A-ACB7-F90D-D779E2CEA6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103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75101-1F34-16FB-C986-1189C8E8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ABADE-1EE2-A30E-4D85-EE4411AB8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E31C9-ACA0-07CD-9AE4-2A2D09277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EEB1D-B80D-B49C-5DAA-378C5C6A3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9954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12CB5-7E5C-BD47-BC1D-ACD02254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33F48-4135-B701-4114-4BF40C109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83DBF-9904-232B-AB20-7F29D3ED0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0DE4F-6F0C-C9A0-099C-A058B0FAA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292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29B77-BF91-22F4-BF59-E167EEE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B31A9-4B60-55E6-7064-C7C5BBD43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1168F-4224-E3F4-154B-0961DABE4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57074-83BC-CD79-00A5-8B838CE7B7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8158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9EA3E-CA32-B2D8-F322-9AAA9D80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E0CAF-281C-86B9-344B-DA0DF9C59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74F8A-D157-A7C5-6096-9A143F476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E8200-B601-736F-CB69-A62EF40C8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4596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9C84-FEBA-7D8E-7E0A-8D124DE9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CD78D-0AEB-0FF7-FC8B-61194C692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9FF13-D94F-D1DD-344A-F2D1A2E03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216CA-2F4B-43E0-55D6-99E4D1C05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8946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63182-E98F-1325-A49D-23A97D381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AAD00-DC1D-CC40-E4F0-4557526E8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314E9-0075-B640-F73D-D72361CCD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63EFA-2D96-A6DB-4790-0729D53F61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2014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DC446-A847-4858-5438-834DFD6A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E946E-8925-AD20-36F3-72C729595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9990D-DEED-300A-30F6-B48795ED4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220B9-3CA6-4011-C520-D61C4BF449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9552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98EE9-DB15-8902-D46E-0A610C44E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4A57C-0BCE-0DD7-F4A8-28B98DBC6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710EB-57D3-7F13-B13D-4185C965C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FABF2-1622-7A95-6293-D326E46A85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7747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ACB5-9125-01F1-B53F-478169ACA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CDF54-7995-DC5C-6AAF-BA383DB5B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21051-FD3D-DFB3-FAF8-0D660EF81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6AD71-B77E-466C-FD10-7A9B8FBDCA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9111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DE982-DA45-772A-92D9-4180344D2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E2112-4B75-88ED-B757-6FC1FE616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67EE7-4687-EA57-3A1B-804665E19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4C989-6C77-0502-8F68-C01405220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4220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70C7-145C-1A57-1CFA-9A4E34D6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911D7-6855-5410-309F-92DDD57A0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5BE4A-A003-EEEF-125A-FEDBA25B0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C850E-F032-21F8-337D-A6934C9ED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3398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06A1D-AC81-B2F5-A33A-1D5777AC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37680-092C-3B03-CC27-80A7909CF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1D716-ECFA-1D78-CBBD-328A50A93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7FA54-B23E-C8CD-EE41-A1C42F4E3E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4677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989B-2E10-A02E-4DC1-C935BF1F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DCEDA-C5AD-10DC-B363-24B2D70F1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87F59-12A9-F980-CD39-9B81617C3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85910-E109-639A-A0E5-243A516E84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5535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FFA2A-3BF8-A540-EDFA-A09CFA569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DDCCE-822F-63DB-07A0-DD49213E7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3988E-D479-67A5-93A8-668683E3C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6081C-EC9D-CCAF-6071-E6A7BBE00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6241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EDB4-E02F-5FD4-74E9-87B62421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215C3-C763-F002-DFB2-E27FF71DD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9308A-4094-BF7E-30EF-F0A82F48E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FD67C-FDB0-25DF-AD00-2E64225945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3195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2151-BB9D-D5F5-E532-F534493D4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627D7-8956-457E-2654-FB13ADC34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827AA-A67F-55CB-65C8-A49E5CD61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3D9F9-4ED6-7347-A9E7-CCECD31A7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2371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4A226-8EF4-14C2-F57A-0B0165EC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D5625-0229-C103-DB19-970E4D34E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33605-401C-0B01-E53B-4050168A8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08595-97AE-171A-8309-069CE9559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913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EFF6-8CC8-2428-E48E-06AC73A70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C9B7A-0A53-285C-1A24-F35E53C6A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374B7-402E-273E-54E7-96A2B4EEE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B9F20-36F8-78CE-7E08-7DF1F6613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1599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A3EA-4A6B-7DBA-C649-E4EEB633C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B9ADF-F555-5132-D6C0-616053D50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BCB95-0DFC-60A1-9BB8-38D310414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F2A50-5C8C-5A8B-2E76-E85E6F045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3099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7F99-9C8E-F257-6C4F-337727914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E1171-486C-55D7-F582-E9EECBD66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4E012-DD34-B1AD-EB0E-2D5E37432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8227F-C778-E3AA-31AB-A3D9C2C12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3734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BAFE-4523-18F2-F6B9-A95DBA09A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F7D3F-B945-6AC8-914E-E089DA8AF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94A78-791A-9AA9-4B7B-4B2857724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D8B0-EBD6-EF12-027D-EB9D3E424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7594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BE30-E1A9-7CF3-5A5D-D072ED78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B53DC-48CA-A420-BF52-C0F8CBDCD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52692-FE77-C033-CBAA-B1B06CCF9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30131-7340-AB1A-3EE7-56907AF261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2511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70BD-B2CF-43DC-BCCA-7B677E450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F2378-DBD3-E0D6-114E-B0B078C32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87520-BF9A-870B-12F0-8D9572683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6031E-D2BB-6D3F-5933-F0498AE02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8316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8430C-7066-FEC4-4A8C-FB8A1164C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AE9A8-2445-A12A-7ABC-B40DB904D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C2DDF-D589-A0C6-5E04-C905609D8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47530-AADF-F400-EEFE-60A805B5C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1564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6D71-09F9-69A7-7074-09AEF5287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7B6A1-305A-5D1C-E707-7E290E56E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A7DDA-6CDC-6377-1A2C-AFC4A4F8A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3EC2E-44BC-9BCB-2420-96CB19DC45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2343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34537-3A1F-9ED7-5EF7-55559AA3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6C57A-7F65-C337-1D03-56FE5EB34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DDB4A-2F89-06FA-C7C2-55F89CB21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D2822-D789-27EF-969B-AE18772D8C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0304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F7D82-2F22-41D7-E6B5-E9331023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29042-41AA-472A-D573-11E8E309D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4EC8B-2EC5-CE42-EC4D-7BE736311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35FA4-24FE-A19B-6FEB-CC02A8B73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3691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715F2-268E-540A-95FC-6C602A4D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32522-8ECA-0784-1715-ED9DFDF60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3809E-0F1B-B0FC-3464-5835B7603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96042-3883-0D91-E1EF-8CB0B56EA8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9359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6285D-8215-1788-3E42-58640DB3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17C2A-0E2F-4B2B-0B7E-4BB3978D1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EF463-4A5A-0D5E-45A4-6A3B1E9A3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90094-BE71-2302-7784-459609018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0611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9CC1-38E8-3F5B-A65A-F5B2EF77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49771-3084-B2AF-70C2-3EFF31F3F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CA6FF-2EC6-A9B5-1444-371A8E1A9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60A1D-F7A1-04DC-DAA8-3C5DFE0EC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8175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BE91-9BB0-E1D9-0C74-5E6A885E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0E544-9D57-FE2A-ACAF-B979C6208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0CF22-2A93-8FF5-EDEE-2A7E9799D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14C27-F0CB-3DA5-7B3A-E1C306F1C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4401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8017-2854-2285-1008-DAFD362D5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46139-890D-6CD3-AFAE-62A911E39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0810E-52C5-1A12-3615-485423F90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3B0DF-CFE4-F630-AA89-3EF337F49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8075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EB424-ED42-54A1-F718-22FCAC6B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2A7BA-E3E8-4006-5F1A-9AA1D9F20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F00E8-9AB4-5448-7DE6-453A44D30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27A98-939C-A648-2DA4-484B2188D9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2519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41C29-C6DE-D0E7-FBCE-A718CACF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E62C7-B6B9-D6FC-87BA-DB1DD4B44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644D0-8891-98AD-68C9-E7B4F144C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2474B-80EF-15A8-119F-BE8CD6F798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4723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11E72-0B9A-E5F3-4093-0B459359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87DFA-4D86-DDFD-44DC-820422AB3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77E0C-BFC3-44BA-05E8-9F3DEF5E1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6380A-1595-C005-EFAB-B84F5614C9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7115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2634-FE24-6F8A-A10E-7071C3E2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F952E-970A-72B5-A33E-757B305AE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1C255-9DD7-DEB1-CF6D-8C04748F3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4A2C4-4ACB-25FE-4E5A-1F59486D19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0286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844D6-0535-BC6C-47E1-C36F0A2E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47001-3148-C777-0BE6-B585C2C06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103A8-54F0-89E5-7651-F281E43AC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1087-8C97-4ED9-96BF-AB4A410438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8973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1C20-74AF-1828-0A28-E19801CD9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7CE7D-5D3C-BBEE-E7C1-2AD7FF206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5AD15-CB25-D506-3A97-B2007E1C8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24B6E-E259-0E3E-78B6-28D4707FFB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5350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6877B-C362-305B-8D80-F63F79782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CFC85-7CE0-DD89-48AB-D4704872F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DB4F3-BDEE-C10E-E549-E8C0205B8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8A5DF-2E9D-8477-723F-B56D186F9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87450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9E0F-C1D5-BB16-8829-AA6408F7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40821-6007-02D8-C107-7E3857463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4CB08-7078-8F5D-E9F8-2A4A22A03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AED34-3C47-F048-8D61-9574C4E93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5778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1FB7-32AE-8D16-C378-B6BBD4AD6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22EDA-0AE9-BC41-9CCC-AEA012DCB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1A529-DCFC-1040-189C-54A33A914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F90A8-AEA0-DC2A-4611-C3FA997C7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1589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756F3-E56B-B324-15E3-5C23D4A9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61E17-0D3E-233E-4B75-2BB5EB96E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C7D40-AB06-A8BF-3881-DEC0AD05B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B63EC-636C-CC61-4D3A-1AEE2F642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1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IsaacKGang/USPS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IsaacKGang/USPS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-1456944"/>
            <a:ext cx="12191695" cy="6858000"/>
          </a:xfrm>
          <a:prstGeom prst="rect">
            <a:avLst/>
          </a:prstGeom>
          <a:solidFill>
            <a:srgbClr val="0E0E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60704" y="6583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3492045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3766667" y="3429000"/>
            <a:ext cx="657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A6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for Oversight: From Exploration to Evidence‑Based Narrative 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60690" y="658368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K. Gang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Gopal Ratnam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Kammy Sanghera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AF4964-9F45-8C5E-5225-9B93FBACE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7" y="85772"/>
            <a:ext cx="6007100" cy="23049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7863840" cy="841248"/>
          </a:xfrm>
          <a:prstGeom prst="roundRect">
            <a:avLst>
              <a:gd name="adj" fmla="val 1087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783080" y="1783080"/>
            <a:ext cx="6400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Module 1 – Foundation of a Narrative Mindset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734056"/>
            <a:ext cx="7863840" cy="841248"/>
          </a:xfrm>
          <a:prstGeom prst="roundRect">
            <a:avLst>
              <a:gd name="adj" fmla="val 1087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734056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783080" y="2734056"/>
            <a:ext cx="6400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Module 2 – What is the Data Telling Us? Exploratory Analysis, Evidence, and Explanation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685032"/>
            <a:ext cx="7863840" cy="841248"/>
          </a:xfrm>
          <a:prstGeom prst="roundRect">
            <a:avLst>
              <a:gd name="adj" fmla="val 1087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3685032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783080" y="3685032"/>
            <a:ext cx="6400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Module 3 – Writing for Impact: Structure, Audience, and Clarity 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4636008"/>
            <a:ext cx="7863840" cy="841248"/>
          </a:xfrm>
          <a:prstGeom prst="roundRect">
            <a:avLst>
              <a:gd name="adj" fmla="val 1087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4636008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783080" y="4636008"/>
            <a:ext cx="6400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Module 4 – Strategic Visualization and Dashboard-Driven Storytelling 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5586984"/>
            <a:ext cx="7863840" cy="841248"/>
          </a:xfrm>
          <a:prstGeom prst="roundRect">
            <a:avLst>
              <a:gd name="adj" fmla="val 1087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</p:spPr>
        <p:txBody>
          <a:bodyPr/>
          <a:lstStyle/>
          <a:p>
            <a:r>
              <a:rPr lang="en-US" dirty="0"/>
              <a:t>-</a:t>
            </a:r>
          </a:p>
        </p:txBody>
      </p:sp>
      <p:sp>
        <p:nvSpPr>
          <p:cNvPr id="19" name="Text 16"/>
          <p:cNvSpPr/>
          <p:nvPr/>
        </p:nvSpPr>
        <p:spPr>
          <a:xfrm>
            <a:off x="777240" y="5586984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1783080" y="5586984"/>
            <a:ext cx="6400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Module 5 – USPS OIG Whitepaper Clinic &amp; Workshop Wrap-Up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869680" y="1947672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2E2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0" dirty="0"/>
          </a:p>
        </p:txBody>
      </p:sp>
      <p:sp>
        <p:nvSpPr>
          <p:cNvPr id="22" name="Text 19"/>
          <p:cNvSpPr/>
          <p:nvPr/>
        </p:nvSpPr>
        <p:spPr>
          <a:xfrm>
            <a:off x="886968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B3A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AA0F12-659F-4D12-BE8C-05448DA11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005840"/>
            <a:ext cx="4649002" cy="2988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0" b="1" dirty="0">
                <a:solidFill>
                  <a:srgbClr val="2E2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0" dirty="0"/>
          </a:p>
        </p:txBody>
      </p:sp>
      <p:sp>
        <p:nvSpPr>
          <p:cNvPr id="4" name="Shape 1"/>
          <p:cNvSpPr/>
          <p:nvPr/>
        </p:nvSpPr>
        <p:spPr>
          <a:xfrm>
            <a:off x="868680" y="4434840"/>
            <a:ext cx="164592" cy="164592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33856" y="4315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Foundation of a Narrative Mindset: Research &amp; Analytics Perspective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E27103-1787-F69B-3285-E085CF6DF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0C7E0-0716-978F-6ECA-9CBF57858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49D5D9-BD75-BE13-AD52-2FD78B30B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6EB287D9-0497-E9B2-EA0E-84F3E0F379C3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2118518-DB15-5F26-0A06-FEE6097B526E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5493592-56E3-041C-D567-AD328725C907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10F31F6D-B876-0049-106E-6FB524934B5A}"/>
              </a:ext>
            </a:extLst>
          </p:cNvPr>
          <p:cNvSpPr/>
          <p:nvPr/>
        </p:nvSpPr>
        <p:spPr>
          <a:xfrm>
            <a:off x="548640" y="17830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A25607DE-C7E8-71BD-3771-629F61E424E3}"/>
              </a:ext>
            </a:extLst>
          </p:cNvPr>
          <p:cNvSpPr/>
          <p:nvPr/>
        </p:nvSpPr>
        <p:spPr>
          <a:xfrm>
            <a:off x="868680" y="1828800"/>
            <a:ext cx="506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participants will be able to:</a:t>
            </a:r>
          </a:p>
          <a:p>
            <a:pPr>
              <a:lnSpc>
                <a:spcPct val="125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difference between reporting and storytelling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an investigator instead of a report generator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business problems before opening Excel or Power BI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analysis to organizational decisions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components of a persuasive analytical narrative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888877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1FAA9-30DE-69A0-4E1E-77527E96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95ACAD-0C2F-C6A3-A7CE-A905AE30C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A4A8CBF-B292-2585-F3DE-CB4ACBD3AEA9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115D3775-B18D-DE48-77EA-038BA8C5388B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2B7FF4F9-C465-B25D-8F28-0C1B6D1E5B15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24A98B94-CB22-70C9-CDC2-8D0994DCBBFF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Matters?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CD1BAF7-5FDD-4772-859E-148EDA650313}"/>
              </a:ext>
            </a:extLst>
          </p:cNvPr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8D46582-1AC2-71A5-6D61-25611A0CFAD8}"/>
              </a:ext>
            </a:extLst>
          </p:cNvPr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564BABE-C48E-82AB-4109-323B9073F6EE}"/>
              </a:ext>
            </a:extLst>
          </p:cNvPr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90E3C06-08BB-00D0-5AD9-DFE39A0F1353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analysts answer: "What happened?"</a:t>
            </a:r>
            <a:endParaRPr lang="en-US" sz="17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185F94C-DA3C-05FB-1C1E-759AE74452E7}"/>
              </a:ext>
            </a:extLst>
          </p:cNvPr>
          <p:cNvSpPr/>
          <p:nvPr/>
        </p:nvSpPr>
        <p:spPr>
          <a:xfrm>
            <a:off x="548640" y="32918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AEE312F-830A-9F91-5196-848CB66F4202}"/>
              </a:ext>
            </a:extLst>
          </p:cNvPr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247EC96-DA46-0227-4659-8CFBCA4BCCB7}"/>
              </a:ext>
            </a:extLst>
          </p:cNvPr>
          <p:cNvSpPr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349BBB4-4B75-AF04-C69B-0C421275FE8C}"/>
              </a:ext>
            </a:extLst>
          </p:cNvPr>
          <p:cNvSpPr/>
          <p:nvPr/>
        </p:nvSpPr>
        <p:spPr>
          <a:xfrm>
            <a:off x="1600200" y="329184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analysts answer: "What happened, why it happened, why leadership should care, and what should happen next."</a:t>
            </a:r>
            <a:endParaRPr lang="en-US" sz="17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BE866A91-CE04-38DA-8DFA-2F65A6C79DA2}"/>
              </a:ext>
            </a:extLst>
          </p:cNvPr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664676CB-79FA-C3A3-172D-003982E83CA6}"/>
              </a:ext>
            </a:extLst>
          </p:cNvPr>
          <p:cNvSpPr/>
          <p:nvPr/>
        </p:nvSpPr>
        <p:spPr>
          <a:xfrm>
            <a:off x="868680" y="530352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DDFFC82-137B-AB69-A42E-B835855DE133}"/>
              </a:ext>
            </a:extLst>
          </p:cNvPr>
          <p:cNvSpPr/>
          <p:nvPr/>
        </p:nvSpPr>
        <p:spPr>
          <a:xfrm>
            <a:off x="86868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3E7FF8B7-D091-6566-D16E-0AB4CCC283C6}"/>
              </a:ext>
            </a:extLst>
          </p:cNvPr>
          <p:cNvSpPr/>
          <p:nvPr/>
        </p:nvSpPr>
        <p:spPr>
          <a:xfrm>
            <a:off x="1600200" y="484632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difference creates influence.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683500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A2496-176E-3978-7B7F-5FAF83F43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709AC73-AB15-4FA6-F9A1-E183DE46A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D1C71FC9-85EC-ACB8-B570-B3A1A3603C19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557D80D-8E2A-EA93-D52F-CF41E1ED4729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2D1FB42B-68D9-EE09-CC72-D45322D68DA3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363735BB-11D0-009E-EA33-7117A54103E9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 Information vs Insight  </a:t>
            </a:r>
            <a:endParaRPr lang="en-US" sz="30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033A36B3-9E50-5F5D-C791-9DC5C4BDFA32}"/>
              </a:ext>
            </a:extLst>
          </p:cNvPr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A31F2AC-8468-65CE-CB94-CFABC9C90453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26BC0AB2-67DC-D717-D0A7-496E43AB4F71}"/>
              </a:ext>
            </a:extLst>
          </p:cNvPr>
          <p:cNvSpPr/>
          <p:nvPr/>
        </p:nvSpPr>
        <p:spPr>
          <a:xfrm>
            <a:off x="411480" y="2936240"/>
            <a:ext cx="1065276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00A3B4E-551B-11D9-63C3-CAA241AADCAD}"/>
              </a:ext>
            </a:extLst>
          </p:cNvPr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E2C58A2-C40D-D6C2-1AAF-D1D9A6D5FDB2}"/>
              </a:ext>
            </a:extLst>
          </p:cNvPr>
          <p:cNvSpPr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10F62B62-5EE4-ECE3-E2A5-01F80C55A2E4}"/>
              </a:ext>
            </a:extLst>
          </p:cNvPr>
          <p:cNvSpPr/>
          <p:nvPr/>
        </p:nvSpPr>
        <p:spPr>
          <a:xfrm>
            <a:off x="1600200" y="329184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Information: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increased 8%.</a:t>
            </a:r>
            <a:endParaRPr lang="en-US" sz="17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801C81A8-EDFE-A2DB-A78D-148B296A9815}"/>
              </a:ext>
            </a:extLst>
          </p:cNvPr>
          <p:cNvSpPr/>
          <p:nvPr/>
        </p:nvSpPr>
        <p:spPr>
          <a:xfrm>
            <a:off x="411480" y="4358640"/>
            <a:ext cx="1065276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D2429999-FFB3-A633-7A81-BD86FF32CEC4}"/>
              </a:ext>
            </a:extLst>
          </p:cNvPr>
          <p:cNvSpPr/>
          <p:nvPr/>
        </p:nvSpPr>
        <p:spPr>
          <a:xfrm>
            <a:off x="914400" y="4701032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895507D-A585-30B8-536A-E40A6FE6E039}"/>
              </a:ext>
            </a:extLst>
          </p:cNvPr>
          <p:cNvSpPr/>
          <p:nvPr/>
        </p:nvSpPr>
        <p:spPr>
          <a:xfrm>
            <a:off x="929640" y="4682236"/>
            <a:ext cx="47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E5C40A68-7371-366F-4BA9-2DC56A141BC0}"/>
              </a:ext>
            </a:extLst>
          </p:cNvPr>
          <p:cNvSpPr/>
          <p:nvPr/>
        </p:nvSpPr>
        <p:spPr>
          <a:xfrm>
            <a:off x="1562100" y="431800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increase occurred only in facilities with staffing shortages.</a:t>
            </a:r>
            <a:endParaRPr lang="en-US" sz="17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3E88B22-1145-0E93-31FD-9CFF43503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661398"/>
              </p:ext>
            </p:extLst>
          </p:nvPr>
        </p:nvGraphicFramePr>
        <p:xfrm>
          <a:off x="548640" y="1717802"/>
          <a:ext cx="105156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1874020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79985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Facility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Delivery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583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2.4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69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3.7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865444"/>
                  </a:ext>
                </a:extLst>
              </a:tr>
            </a:tbl>
          </a:graphicData>
        </a:graphic>
      </p:graphicFrame>
      <p:sp>
        <p:nvSpPr>
          <p:cNvPr id="23" name="Shape 11">
            <a:extLst>
              <a:ext uri="{FF2B5EF4-FFF2-40B4-BE49-F238E27FC236}">
                <a16:creationId xmlns:a16="http://schemas.microsoft.com/office/drawing/2014/main" id="{5A6E5189-46C9-06C0-324B-C182F20DD9CA}"/>
              </a:ext>
            </a:extLst>
          </p:cNvPr>
          <p:cNvSpPr/>
          <p:nvPr/>
        </p:nvSpPr>
        <p:spPr>
          <a:xfrm>
            <a:off x="411480" y="5796280"/>
            <a:ext cx="10652760" cy="10617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8C7BDD62-137A-D43A-11C7-F85EAEE2A016}"/>
              </a:ext>
            </a:extLst>
          </p:cNvPr>
          <p:cNvSpPr/>
          <p:nvPr/>
        </p:nvSpPr>
        <p:spPr>
          <a:xfrm>
            <a:off x="1600200" y="541528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temporary staffing during seasonal peaks.</a:t>
            </a: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D3470AAE-E176-A33F-DCC6-03B9E7A8F835}"/>
              </a:ext>
            </a:extLst>
          </p:cNvPr>
          <p:cNvSpPr/>
          <p:nvPr/>
        </p:nvSpPr>
        <p:spPr>
          <a:xfrm>
            <a:off x="899160" y="572516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A04666D9-89A3-9ADC-72B5-C7FB8F5119B5}"/>
              </a:ext>
            </a:extLst>
          </p:cNvPr>
          <p:cNvSpPr/>
          <p:nvPr/>
        </p:nvSpPr>
        <p:spPr>
          <a:xfrm>
            <a:off x="899160" y="5725160"/>
            <a:ext cx="47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92769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28F6B-7700-24A9-D5E9-9859B3F0A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DEDBAE-446B-2D0B-15CC-51519626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8CD2677A-18D2-0D1B-3F97-AB1892BEACCB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2E2388B-B534-C3AB-5F00-C22E11BF1B2B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E01AD88-8589-E25D-FE70-9DD2B8388AB1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8F1D1EFE-9002-E4C2-46EA-0A24D2669AAD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Framework  </a:t>
            </a:r>
            <a:endParaRPr lang="en-US" sz="30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DEF2E6E-CF8B-2A59-1580-7C747D0C8372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43A938-0E89-115F-1989-7569D1C49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850" y="1737360"/>
            <a:ext cx="22479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3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25110-27FA-D8F1-6A99-6EF0ED9A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742C45-232F-C643-5DC9-9B95E6191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1156A742-44B7-B6A1-0EB1-BE3822860D45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D02FCC0-4EFA-3611-A94E-B4601064BEEF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89A002D-56CE-10CE-62F4-523AD88E7580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AB522D7E-8F60-9813-7447-7BB7F687A949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Investigator Mindset </a:t>
            </a:r>
            <a:endParaRPr lang="en-US" sz="30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0F9956A4-8FB4-C997-3A6F-C9EBA3045C51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7CCB5EB-6F9B-04DB-7A8A-90423F860A86}"/>
              </a:ext>
            </a:extLst>
          </p:cNvPr>
          <p:cNvSpPr/>
          <p:nvPr/>
        </p:nvSpPr>
        <p:spPr>
          <a:xfrm>
            <a:off x="548640" y="1965960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2D3CCC4-4038-C3A3-2307-F96003683D6C}"/>
              </a:ext>
            </a:extLst>
          </p:cNvPr>
          <p:cNvSpPr/>
          <p:nvPr/>
        </p:nvSpPr>
        <p:spPr>
          <a:xfrm>
            <a:off x="822960" y="22494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4B88E83-523A-40DF-F7C0-2F1952F8D827}"/>
              </a:ext>
            </a:extLst>
          </p:cNvPr>
          <p:cNvSpPr/>
          <p:nvPr/>
        </p:nvSpPr>
        <p:spPr>
          <a:xfrm>
            <a:off x="82296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4222D5C-2597-AFB5-365D-FD6C8F4ED0AE}"/>
              </a:ext>
            </a:extLst>
          </p:cNvPr>
          <p:cNvSpPr/>
          <p:nvPr/>
        </p:nvSpPr>
        <p:spPr>
          <a:xfrm>
            <a:off x="1508760" y="19659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</a:t>
            </a:r>
            <a:endParaRPr lang="en-US" sz="145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680F6D2-696F-4CE9-1003-4239134C305E}"/>
              </a:ext>
            </a:extLst>
          </p:cNvPr>
          <p:cNvSpPr/>
          <p:nvPr/>
        </p:nvSpPr>
        <p:spPr>
          <a:xfrm>
            <a:off x="548640" y="3108960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8842C834-2698-B480-E3E2-7418439DAB2F}"/>
              </a:ext>
            </a:extLst>
          </p:cNvPr>
          <p:cNvSpPr/>
          <p:nvPr/>
        </p:nvSpPr>
        <p:spPr>
          <a:xfrm>
            <a:off x="822960" y="33924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F279DA8-AAAF-BBB6-6620-4A8F8EC38031}"/>
              </a:ext>
            </a:extLst>
          </p:cNvPr>
          <p:cNvSpPr/>
          <p:nvPr/>
        </p:nvSpPr>
        <p:spPr>
          <a:xfrm>
            <a:off x="82296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0279C5E-2A0D-6593-EEB0-5ABA4F8C44A6}"/>
              </a:ext>
            </a:extLst>
          </p:cNvPr>
          <p:cNvSpPr/>
          <p:nvPr/>
        </p:nvSpPr>
        <p:spPr>
          <a:xfrm>
            <a:off x="1508760" y="31089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45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8832C17-D10D-63D5-8B76-08A522CC1248}"/>
              </a:ext>
            </a:extLst>
          </p:cNvPr>
          <p:cNvSpPr/>
          <p:nvPr/>
        </p:nvSpPr>
        <p:spPr>
          <a:xfrm>
            <a:off x="548640" y="4251960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111D9F19-9C70-51F8-1F6A-29CC584E1F2A}"/>
              </a:ext>
            </a:extLst>
          </p:cNvPr>
          <p:cNvSpPr/>
          <p:nvPr/>
        </p:nvSpPr>
        <p:spPr>
          <a:xfrm>
            <a:off x="822960" y="45354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8754C473-D821-6E44-375E-E4B8A6A9C129}"/>
              </a:ext>
            </a:extLst>
          </p:cNvPr>
          <p:cNvSpPr/>
          <p:nvPr/>
        </p:nvSpPr>
        <p:spPr>
          <a:xfrm>
            <a:off x="822960" y="4535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A45825F5-410C-5F10-4EC2-37A4C5DF00DD}"/>
              </a:ext>
            </a:extLst>
          </p:cNvPr>
          <p:cNvSpPr/>
          <p:nvPr/>
        </p:nvSpPr>
        <p:spPr>
          <a:xfrm>
            <a:off x="1508760" y="42519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What?</a:t>
            </a:r>
            <a:endParaRPr lang="en-US" sz="145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C82D1DAA-A2DE-6320-BA2C-A0D89E76D105}"/>
              </a:ext>
            </a:extLst>
          </p:cNvPr>
          <p:cNvSpPr/>
          <p:nvPr/>
        </p:nvSpPr>
        <p:spPr>
          <a:xfrm>
            <a:off x="548640" y="5394960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A86AB092-9571-70D5-89E0-B9FA90984F77}"/>
              </a:ext>
            </a:extLst>
          </p:cNvPr>
          <p:cNvSpPr/>
          <p:nvPr/>
        </p:nvSpPr>
        <p:spPr>
          <a:xfrm>
            <a:off x="822960" y="56784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F94ECBDD-E3E2-2DC6-3003-A69F8ABC5AEA}"/>
              </a:ext>
            </a:extLst>
          </p:cNvPr>
          <p:cNvSpPr/>
          <p:nvPr/>
        </p:nvSpPr>
        <p:spPr>
          <a:xfrm>
            <a:off x="822960" y="5678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6461E254-B871-4F3A-02B3-A4ED7D664C98}"/>
              </a:ext>
            </a:extLst>
          </p:cNvPr>
          <p:cNvSpPr/>
          <p:nvPr/>
        </p:nvSpPr>
        <p:spPr>
          <a:xfrm>
            <a:off x="1508760" y="53949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145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44D84AD6-AD3E-5A80-1111-9DEE477EB3DF}"/>
              </a:ext>
            </a:extLst>
          </p:cNvPr>
          <p:cNvSpPr/>
          <p:nvPr/>
        </p:nvSpPr>
        <p:spPr>
          <a:xfrm>
            <a:off x="6153912" y="1965960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5026A62C-0B28-34FC-4C28-64616280DB00}"/>
              </a:ext>
            </a:extLst>
          </p:cNvPr>
          <p:cNvSpPr/>
          <p:nvPr/>
        </p:nvSpPr>
        <p:spPr>
          <a:xfrm>
            <a:off x="6428232" y="22494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3AA9743F-41CE-61C3-103D-4E37ECF1316E}"/>
              </a:ext>
            </a:extLst>
          </p:cNvPr>
          <p:cNvSpPr/>
          <p:nvPr/>
        </p:nvSpPr>
        <p:spPr>
          <a:xfrm>
            <a:off x="6428232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CAA88A50-9338-3EC1-3A3C-E76163970100}"/>
              </a:ext>
            </a:extLst>
          </p:cNvPr>
          <p:cNvSpPr/>
          <p:nvPr/>
        </p:nvSpPr>
        <p:spPr>
          <a:xfrm>
            <a:off x="7114032" y="19659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supports this?</a:t>
            </a:r>
            <a:endParaRPr lang="en-US" sz="145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852B1378-D553-5FAE-4A70-59875DB6C6FF}"/>
              </a:ext>
            </a:extLst>
          </p:cNvPr>
          <p:cNvSpPr/>
          <p:nvPr/>
        </p:nvSpPr>
        <p:spPr>
          <a:xfrm>
            <a:off x="6153912" y="3108960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E2731083-4546-4E33-D394-DC9D02B7469C}"/>
              </a:ext>
            </a:extLst>
          </p:cNvPr>
          <p:cNvSpPr/>
          <p:nvPr/>
        </p:nvSpPr>
        <p:spPr>
          <a:xfrm>
            <a:off x="6428232" y="33924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2371930E-057F-90C6-B687-19DA2D652044}"/>
              </a:ext>
            </a:extLst>
          </p:cNvPr>
          <p:cNvSpPr/>
          <p:nvPr/>
        </p:nvSpPr>
        <p:spPr>
          <a:xfrm>
            <a:off x="6428232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8D065A62-05B9-F6B3-68A2-993B670B2730}"/>
              </a:ext>
            </a:extLst>
          </p:cNvPr>
          <p:cNvSpPr/>
          <p:nvPr/>
        </p:nvSpPr>
        <p:spPr>
          <a:xfrm>
            <a:off x="7114032" y="31089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done?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63261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15F5E-3B75-6040-FD5D-568D4240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679B7D-7E0D-DC57-4A6B-4036A6D9A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9A6A7B44-F973-BC1A-C401-106A71801CEF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B68C35E-5A50-6794-B188-BF90171B579E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F07D6856-DEB0-5F75-8F05-180474FC0D8A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USPS leadership notices increasing package delays </a:t>
            </a:r>
            <a:endParaRPr lang="en-US" sz="30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8D7E68D-7F6D-AA2D-66C8-8EE5301293B3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085B0D8-99BE-647B-5070-861BCC3F37F8}"/>
              </a:ext>
            </a:extLst>
          </p:cNvPr>
          <p:cNvSpPr/>
          <p:nvPr/>
        </p:nvSpPr>
        <p:spPr>
          <a:xfrm>
            <a:off x="548640" y="1965960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2866A33-C172-1194-2DB1-71655BCC130D}"/>
              </a:ext>
            </a:extLst>
          </p:cNvPr>
          <p:cNvSpPr/>
          <p:nvPr/>
        </p:nvSpPr>
        <p:spPr>
          <a:xfrm>
            <a:off x="822960" y="22494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C60B050-3C3C-9F0F-804F-57CB0177D251}"/>
              </a:ext>
            </a:extLst>
          </p:cNvPr>
          <p:cNvSpPr/>
          <p:nvPr/>
        </p:nvSpPr>
        <p:spPr>
          <a:xfrm>
            <a:off x="82296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04403E2-CA44-67B2-6EBC-B89C51E59D5B}"/>
              </a:ext>
            </a:extLst>
          </p:cNvPr>
          <p:cNvSpPr/>
          <p:nvPr/>
        </p:nvSpPr>
        <p:spPr>
          <a:xfrm>
            <a:off x="1508760" y="19659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would you ask?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087973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4C853-9432-A62B-12AB-75C194FC8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4B89BC-122B-88C6-E10D-10C364FA4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754727D8-138B-D4A6-0456-DDB7A9F0E526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C4CAA03-F389-7437-CA84-B2899BA69B0D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AC7A03B-A65C-65F9-C8A0-1EC658A95573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USPS leadership notices increasing package delays </a:t>
            </a:r>
            <a:endParaRPr lang="en-US" sz="30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0BA5EDA-CB86-42F2-8901-D9B06D29C865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817FA73-1139-222A-3A98-2EB8CD62E484}"/>
              </a:ext>
            </a:extLst>
          </p:cNvPr>
          <p:cNvSpPr/>
          <p:nvPr/>
        </p:nvSpPr>
        <p:spPr>
          <a:xfrm>
            <a:off x="548640" y="1737360"/>
            <a:ext cx="5486400" cy="3393440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29CDF8F-95F7-9F20-7AE9-7793824651BE}"/>
              </a:ext>
            </a:extLst>
          </p:cNvPr>
          <p:cNvSpPr/>
          <p:nvPr/>
        </p:nvSpPr>
        <p:spPr>
          <a:xfrm>
            <a:off x="1508760" y="19659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facilities?</a:t>
            </a: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when?</a:t>
            </a: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Weather?</a:t>
            </a: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Staffing?</a:t>
            </a: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Transportation?</a:t>
            </a: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season?</a:t>
            </a:r>
          </a:p>
          <a:p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changes?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765107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13828-30AA-3A69-A5CE-17001554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0CD85E-FD5E-876C-D19A-C744C0027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12DFA00C-B133-6A2B-DB58-054343C3BA8A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DF20CA5-2AAF-EB25-57E3-948CAC59BEDF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BFFD5695-DF90-CB68-1B15-F5062FAB319B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0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56D6C97-0D12-4628-F14E-87016BA64CD4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A4CCCB7A-D612-0BDB-2988-73E9E363442D}"/>
              </a:ext>
            </a:extLst>
          </p:cNvPr>
          <p:cNvSpPr/>
          <p:nvPr/>
        </p:nvSpPr>
        <p:spPr>
          <a:xfrm>
            <a:off x="566928" y="14813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100" dirty="0">
                <a:solidFill>
                  <a:srgbClr val="B3A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r>
              <a:rPr lang="en-US" sz="1400" kern="0" spc="100" dirty="0">
                <a:solidFill>
                  <a:srgbClr val="A6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Two reports</a:t>
            </a:r>
            <a:endParaRPr lang="en-US" sz="14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8D70D78C-EA28-E1D4-D500-800616EB16D4}"/>
              </a:ext>
            </a:extLst>
          </p:cNvPr>
          <p:cNvSpPr/>
          <p:nvPr/>
        </p:nvSpPr>
        <p:spPr>
          <a:xfrm>
            <a:off x="548640" y="1965960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7503383F-DF2B-6E56-F792-08715F1144A8}"/>
              </a:ext>
            </a:extLst>
          </p:cNvPr>
          <p:cNvSpPr/>
          <p:nvPr/>
        </p:nvSpPr>
        <p:spPr>
          <a:xfrm>
            <a:off x="822960" y="22494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7B3B6D6-55DB-3587-2495-D15AD588E166}"/>
              </a:ext>
            </a:extLst>
          </p:cNvPr>
          <p:cNvSpPr/>
          <p:nvPr/>
        </p:nvSpPr>
        <p:spPr>
          <a:xfrm>
            <a:off x="82296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8AAA009-736C-FA1B-1B1C-ADA2D1A512B6}"/>
              </a:ext>
            </a:extLst>
          </p:cNvPr>
          <p:cNvSpPr/>
          <p:nvPr/>
        </p:nvSpPr>
        <p:spPr>
          <a:xfrm>
            <a:off x="1508760" y="19659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2000"/>
              </a:lnSpc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A:</a:t>
            </a:r>
          </a:p>
          <a:p>
            <a:pPr>
              <a:lnSpc>
                <a:spcPct val="112000"/>
              </a:lnSpc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 increased 10%.</a:t>
            </a:r>
            <a:endParaRPr lang="en-US" sz="145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08778D7E-648B-502E-59C1-90D53E78A619}"/>
              </a:ext>
            </a:extLst>
          </p:cNvPr>
          <p:cNvSpPr/>
          <p:nvPr/>
        </p:nvSpPr>
        <p:spPr>
          <a:xfrm>
            <a:off x="548640" y="3108960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0A7C63D7-4954-3165-DFBD-FF6534AE3275}"/>
              </a:ext>
            </a:extLst>
          </p:cNvPr>
          <p:cNvSpPr/>
          <p:nvPr/>
        </p:nvSpPr>
        <p:spPr>
          <a:xfrm>
            <a:off x="822960" y="33924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488F10E-FC93-80E4-1A89-2DFCCB8EF24F}"/>
              </a:ext>
            </a:extLst>
          </p:cNvPr>
          <p:cNvSpPr/>
          <p:nvPr/>
        </p:nvSpPr>
        <p:spPr>
          <a:xfrm>
            <a:off x="82296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6DA4132-751E-E994-65CB-AEFF61ABC45F}"/>
              </a:ext>
            </a:extLst>
          </p:cNvPr>
          <p:cNvSpPr/>
          <p:nvPr/>
        </p:nvSpPr>
        <p:spPr>
          <a:xfrm>
            <a:off x="1508760" y="3108960"/>
            <a:ext cx="4389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B: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Average delivery time increased by 10%, driven primarily by three regional processing  centers, experiencing staffing shortages following holiday retirements</a:t>
            </a:r>
            <a:endParaRPr lang="en-US" sz="14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8580E8D2-414B-0A88-F248-7624AA46B59D}"/>
              </a:ext>
            </a:extLst>
          </p:cNvPr>
          <p:cNvSpPr/>
          <p:nvPr/>
        </p:nvSpPr>
        <p:spPr>
          <a:xfrm>
            <a:off x="1298448" y="5010912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Which report helps leadership?</a:t>
            </a:r>
            <a:endParaRPr lang="en-US" sz="145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3E429D16-B343-8A6A-0932-9E3C743D24F3}"/>
              </a:ext>
            </a:extLst>
          </p:cNvPr>
          <p:cNvSpPr/>
          <p:nvPr/>
        </p:nvSpPr>
        <p:spPr>
          <a:xfrm>
            <a:off x="6976872" y="81788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50" dirty="0"/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A1994335-85B4-A325-B5A8-A29C3983444B}"/>
              </a:ext>
            </a:extLst>
          </p:cNvPr>
          <p:cNvSpPr/>
          <p:nvPr/>
        </p:nvSpPr>
        <p:spPr>
          <a:xfrm>
            <a:off x="6126480" y="1994916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2480AA25-EC3F-30A1-CF8B-A454B8DD1635}"/>
              </a:ext>
            </a:extLst>
          </p:cNvPr>
          <p:cNvSpPr/>
          <p:nvPr/>
        </p:nvSpPr>
        <p:spPr>
          <a:xfrm>
            <a:off x="6560820" y="2011172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Good analysts organize numbers</a:t>
            </a:r>
            <a:endParaRPr lang="en-US" sz="1450" dirty="0"/>
          </a:p>
        </p:txBody>
      </p:sp>
      <p:sp>
        <p:nvSpPr>
          <p:cNvPr id="48" name="Shape 28">
            <a:extLst>
              <a:ext uri="{FF2B5EF4-FFF2-40B4-BE49-F238E27FC236}">
                <a16:creationId xmlns:a16="http://schemas.microsoft.com/office/drawing/2014/main" id="{5ED5562D-A1FC-7BDA-1C9D-A6B327BF3F2B}"/>
              </a:ext>
            </a:extLst>
          </p:cNvPr>
          <p:cNvSpPr/>
          <p:nvPr/>
        </p:nvSpPr>
        <p:spPr>
          <a:xfrm>
            <a:off x="6156962" y="3080004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1773B96B-BA5E-8BBC-FF55-24C768BEADB7}"/>
              </a:ext>
            </a:extLst>
          </p:cNvPr>
          <p:cNvSpPr/>
          <p:nvPr/>
        </p:nvSpPr>
        <p:spPr>
          <a:xfrm>
            <a:off x="6492240" y="2990088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analysts organize thinking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278647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005840"/>
            <a:ext cx="5852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0" b="1" dirty="0">
                <a:solidFill>
                  <a:srgbClr val="2E2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0" dirty="0"/>
          </a:p>
        </p:txBody>
      </p:sp>
      <p:sp>
        <p:nvSpPr>
          <p:cNvPr id="4" name="Shape 1"/>
          <p:cNvSpPr/>
          <p:nvPr/>
        </p:nvSpPr>
        <p:spPr>
          <a:xfrm>
            <a:off x="868680" y="4434840"/>
            <a:ext cx="164592" cy="164592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33856" y="4315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3A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What is the Data Telling Us? Exploratory Analysis, Evidence, and Explanation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00220-C3F2-291D-70A6-A5ED2CB5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432D3-B254-D881-4F3F-20DF08C0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8613C4-FC41-4977-2958-6000CD2D4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D1AA1D4A-0959-D6AF-E6A2-A863B1B2EDF6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22DD4D36-786D-11AA-E165-DD5B96C163CA}"/>
              </a:ext>
            </a:extLst>
          </p:cNvPr>
          <p:cNvSpPr/>
          <p:nvPr/>
        </p:nvSpPr>
        <p:spPr>
          <a:xfrm>
            <a:off x="548640" y="17830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EA5A9D9-ED78-2B8D-6AC4-4DF05D440A4C}"/>
              </a:ext>
            </a:extLst>
          </p:cNvPr>
          <p:cNvSpPr/>
          <p:nvPr/>
        </p:nvSpPr>
        <p:spPr>
          <a:xfrm>
            <a:off x="868680" y="1828800"/>
            <a:ext cx="506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participants will be able to:</a:t>
            </a:r>
          </a:p>
          <a:p>
            <a:pPr>
              <a:lnSpc>
                <a:spcPct val="125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meaningful patterns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signal from noise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evidence-based explanations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jumping to conclusions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450869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8446C-D28D-E3F8-0C7C-93F06349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3A6E8C-A6D8-2329-F581-D42D11E04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B1E3F973-B0B4-634C-A13A-B3A4E0652E98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B64A926-6479-4BE5-0483-1FA2580DE290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3096F09-5CF0-3890-F3E3-08736771D590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9E8D7D1D-F73C-DA89-A8E6-AE750C42FD6E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questions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BBEBFCA1-F604-AAF2-33FA-2D6CD1242FAC}"/>
              </a:ext>
            </a:extLst>
          </p:cNvPr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4A0B860-581E-3817-4139-AA3D05A18ACC}"/>
              </a:ext>
            </a:extLst>
          </p:cNvPr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84FE969-902A-C4FA-DD25-FA226E954824}"/>
              </a:ext>
            </a:extLst>
          </p:cNvPr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54E8387-AF3D-B65A-8D16-623DFDFD3D8F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7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3DF3E3C4-7F51-2BF1-A23C-2EA28C0D4E3C}"/>
              </a:ext>
            </a:extLst>
          </p:cNvPr>
          <p:cNvSpPr/>
          <p:nvPr/>
        </p:nvSpPr>
        <p:spPr>
          <a:xfrm>
            <a:off x="548640" y="32918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732DF49F-0A2F-F244-840D-831122FFED1C}"/>
              </a:ext>
            </a:extLst>
          </p:cNvPr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760D2E5-BEB6-249A-A3E6-8E095C9CB8AB}"/>
              </a:ext>
            </a:extLst>
          </p:cNvPr>
          <p:cNvSpPr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80C8D34-28E5-603E-0357-515800550E6F}"/>
              </a:ext>
            </a:extLst>
          </p:cNvPr>
          <p:cNvSpPr/>
          <p:nvPr/>
        </p:nvSpPr>
        <p:spPr>
          <a:xfrm>
            <a:off x="1600200" y="329184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7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06AD45F0-18CA-A881-F2FF-3042C8A094EB}"/>
              </a:ext>
            </a:extLst>
          </p:cNvPr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0374DEB2-6616-9360-9E15-4F5752FFE56E}"/>
              </a:ext>
            </a:extLst>
          </p:cNvPr>
          <p:cNvSpPr/>
          <p:nvPr/>
        </p:nvSpPr>
        <p:spPr>
          <a:xfrm>
            <a:off x="868680" y="530352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4D48F7C3-078E-F679-8676-718A55D04203}"/>
              </a:ext>
            </a:extLst>
          </p:cNvPr>
          <p:cNvSpPr/>
          <p:nvPr/>
        </p:nvSpPr>
        <p:spPr>
          <a:xfrm>
            <a:off x="86868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6DBC462B-8E9C-8D16-AE33-6CC31790E480}"/>
              </a:ext>
            </a:extLst>
          </p:cNvPr>
          <p:cNvSpPr/>
          <p:nvPr/>
        </p:nvSpPr>
        <p:spPr>
          <a:xfrm>
            <a:off x="1600200" y="484632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know?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08438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15B25-69BF-DEFA-574F-CF18D543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E0A28A-DBA3-9D9A-B4CF-FDCC35362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E5DF29D-6F73-61F1-0E46-12C95FF3BFCD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F99D210-53AB-6387-973A-6CB062D309FA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EE0D6A0-F847-336D-BE18-0AA238EB827C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16F9150-131F-D82D-18F5-955659C9F285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Data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FAD72D7-7DE1-08A6-E826-0B2799CA6A81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F718AA7-CF57-3A43-4AD5-3BF37F260DE9}"/>
              </a:ext>
            </a:extLst>
          </p:cNvPr>
          <p:cNvSpPr/>
          <p:nvPr/>
        </p:nvSpPr>
        <p:spPr>
          <a:xfrm>
            <a:off x="1600200" y="1737360"/>
            <a:ext cx="97840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real-world data is messy.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problems: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formatting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entry errors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data sources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22498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07CC7-ED12-3B51-4025-D6F3617D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FCA014-9F23-D8E7-24A0-7A18595D2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78B3BF64-BB50-51C4-A3E6-49D3C1625372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BB4199A-CFA6-40F9-75CF-E81712551E95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24A37C86-0E35-8C2B-6868-D261097F5081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0F238FD7-1D68-C30C-5EB6-9D7D84097EEF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Data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F9B104D-F381-EA9A-04FC-BA2B39B276D9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04C3CD9F-D044-1347-A459-355594205AFF}"/>
              </a:ext>
            </a:extLst>
          </p:cNvPr>
          <p:cNvSpPr/>
          <p:nvPr/>
        </p:nvSpPr>
        <p:spPr>
          <a:xfrm>
            <a:off x="1600200" y="1737360"/>
            <a:ext cx="9784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Hospital patient dataset: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ADE1AB-B335-7524-4188-8456DEBACF1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022265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618162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15232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Patient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Blood Pressure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071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278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654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343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861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773796"/>
                  </a:ext>
                </a:extLst>
              </a:tr>
            </a:tbl>
          </a:graphicData>
        </a:graphic>
      </p:graphicFrame>
      <p:sp>
        <p:nvSpPr>
          <p:cNvPr id="4" name="Shape 4">
            <a:extLst>
              <a:ext uri="{FF2B5EF4-FFF2-40B4-BE49-F238E27FC236}">
                <a16:creationId xmlns:a16="http://schemas.microsoft.com/office/drawing/2014/main" id="{19656787-B1C1-F317-2FD1-8AC16B76E9FE}"/>
              </a:ext>
            </a:extLst>
          </p:cNvPr>
          <p:cNvSpPr/>
          <p:nvPr/>
        </p:nvSpPr>
        <p:spPr>
          <a:xfrm>
            <a:off x="3512820" y="5098573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739E6B6-EFF8-E583-CA75-79412256FBE5}"/>
              </a:ext>
            </a:extLst>
          </p:cNvPr>
          <p:cNvSpPr/>
          <p:nvPr/>
        </p:nvSpPr>
        <p:spPr>
          <a:xfrm>
            <a:off x="3787140" y="5338207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E080F40-34B2-6449-E796-B5029E7AFFF2}"/>
              </a:ext>
            </a:extLst>
          </p:cNvPr>
          <p:cNvSpPr/>
          <p:nvPr/>
        </p:nvSpPr>
        <p:spPr>
          <a:xfrm>
            <a:off x="3787140" y="533820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B7104C7-28E9-9AF5-561A-BD3E86D10327}"/>
              </a:ext>
            </a:extLst>
          </p:cNvPr>
          <p:cNvSpPr/>
          <p:nvPr/>
        </p:nvSpPr>
        <p:spPr>
          <a:xfrm>
            <a:off x="4472940" y="5054743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values look suspicious?</a:t>
            </a:r>
          </a:p>
        </p:txBody>
      </p:sp>
    </p:spTree>
    <p:extLst>
      <p:ext uri="{BB962C8B-B14F-4D97-AF65-F5344CB8AC3E}">
        <p14:creationId xmlns:p14="http://schemas.microsoft.com/office/powerpoint/2010/main" val="182166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92C82-F136-0C2B-4AC6-1B3C229D7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E48689-49A6-784C-470A-9193E9DD2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15F5CF58-283E-8280-4132-B7532B0CA501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666B6DD-BA2F-3DC3-D3EA-F3C5628F9C46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8FB73F17-8AD6-87C0-7B34-3A6381C83426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4A16E309-5A0C-AC4F-CF7A-E6D1AEF39D83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Data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CCE7DB7-DE70-CB4D-4B92-5C69C121033C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05C9BFD-6A8C-8534-D5E8-0410FE957699}"/>
              </a:ext>
            </a:extLst>
          </p:cNvPr>
          <p:cNvSpPr/>
          <p:nvPr/>
        </p:nvSpPr>
        <p:spPr>
          <a:xfrm>
            <a:off x="1581912" y="2167128"/>
            <a:ext cx="9784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450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78401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0480A-00B0-B280-C9F5-5BE9CA9D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5B3DC8-D1FA-48ED-F8CC-C5F8DBD95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380FD53E-33A9-22DD-37E7-A59F5A0CB9A5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21FF4F2-39CD-FA2B-E8C7-4235EEA23D94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BB724201-408A-F5CB-4947-67E8AC2B7592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D8FCF6B-A41B-6546-08B7-4205D2DEBB44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vs Noise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A526158-5DCF-9747-5414-E27EF47D9AC8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DF3CF82-3830-1F5C-D19E-5FBB6F574D3F}"/>
              </a:ext>
            </a:extLst>
          </p:cNvPr>
          <p:cNvSpPr/>
          <p:nvPr/>
        </p:nvSpPr>
        <p:spPr>
          <a:xfrm>
            <a:off x="1581912" y="2167128"/>
            <a:ext cx="9784080" cy="3867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stock prices: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$100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$101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$99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$102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5: $100</a:t>
            </a:r>
          </a:p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FD61CE7E-D664-AF75-A72F-60F26EF29FB0}"/>
              </a:ext>
            </a:extLst>
          </p:cNvPr>
          <p:cNvSpPr/>
          <p:nvPr/>
        </p:nvSpPr>
        <p:spPr>
          <a:xfrm>
            <a:off x="3512820" y="5098573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75D6BAD6-F316-321B-ACE0-977E4FFD6BB7}"/>
              </a:ext>
            </a:extLst>
          </p:cNvPr>
          <p:cNvSpPr/>
          <p:nvPr/>
        </p:nvSpPr>
        <p:spPr>
          <a:xfrm>
            <a:off x="3787140" y="5338207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2C34755-41BB-8911-C888-AEF88A5B091D}"/>
              </a:ext>
            </a:extLst>
          </p:cNvPr>
          <p:cNvSpPr/>
          <p:nvPr/>
        </p:nvSpPr>
        <p:spPr>
          <a:xfrm>
            <a:off x="3787140" y="533820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4EEA7DD7-7489-186B-2289-6F64E3234756}"/>
              </a:ext>
            </a:extLst>
          </p:cNvPr>
          <p:cNvSpPr/>
          <p:nvPr/>
        </p:nvSpPr>
        <p:spPr>
          <a:xfrm>
            <a:off x="4472940" y="5054743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stock growing?</a:t>
            </a:r>
          </a:p>
        </p:txBody>
      </p:sp>
    </p:spTree>
    <p:extLst>
      <p:ext uri="{BB962C8B-B14F-4D97-AF65-F5344CB8AC3E}">
        <p14:creationId xmlns:p14="http://schemas.microsoft.com/office/powerpoint/2010/main" val="3554233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6B2B4-A238-3D91-EFB5-9176C63C2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933E61-1327-87F9-C991-48E4A64D4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9BAE749F-1E1E-FFD5-2EF3-7652644557A0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535E4BF-75D6-E99E-1DD8-D499A55CFD45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27027AA-35AB-304F-A793-28FE32DDB77D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869C63F-2F9D-A53A-4C82-1B58BEFD1E96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vs Noise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11814C56-49AB-A0E2-7F40-47CA664DB0C9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6E697B8-6880-72B2-9AA0-1A611E879F4C}"/>
              </a:ext>
            </a:extLst>
          </p:cNvPr>
          <p:cNvSpPr/>
          <p:nvPr/>
        </p:nvSpPr>
        <p:spPr>
          <a:xfrm>
            <a:off x="1581912" y="2167128"/>
            <a:ext cx="9784080" cy="181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necessarily.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fluctuations may simply be noise.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34473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EB603-4E18-2A3A-A0C2-C146B4D2F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9958CD-02A9-48B5-B4FB-162D7084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934110F3-B790-C007-A678-75C2FA976DFC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A96751B-931D-774A-F5A6-FA9184F6B437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025B98C1-6321-F6FE-0C3D-7B4A3F834F2B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51FDF49E-BFF0-E24F-B38F-9B974E06E5AC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vs Noise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BE0BA8FE-AB0B-3981-2D8C-AEF9AB8A583C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5752171B-13B8-B4DB-A7ED-7A5AB81B928C}"/>
              </a:ext>
            </a:extLst>
          </p:cNvPr>
          <p:cNvSpPr/>
          <p:nvPr/>
        </p:nvSpPr>
        <p:spPr>
          <a:xfrm>
            <a:off x="1581912" y="2167128"/>
            <a:ext cx="9784080" cy="181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A consistent, repeatable pattern.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purchases increase every holiday season.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admissions rise during flu season.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attending tutoring score higher.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870309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54F64-E2CC-BD74-2E40-0D891095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8BA639-E849-2950-B84F-EBBE47708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BB36CA8A-553D-A3FB-5D35-791C5E4EEF19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1E0B991-E483-E09F-A578-6C7498C84FD0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C8A03B09-D5A0-EB49-F62A-1D87F32F6096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CD5CD85-40EA-1FA1-DB71-0D9E6773F5DB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vs Noise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ADEFD23-D1C7-D446-FFF9-9E86AFF570C1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D4906AE-5585-F856-1B33-FD97542866B1}"/>
              </a:ext>
            </a:extLst>
          </p:cNvPr>
          <p:cNvSpPr/>
          <p:nvPr/>
        </p:nvSpPr>
        <p:spPr>
          <a:xfrm>
            <a:off x="1581912" y="2167128"/>
            <a:ext cx="9784080" cy="181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Noise: Random variation that does not represent a meaningful trend.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unusually large sale.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website outage.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survey response.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482600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AC66D-F768-C9FD-2F13-C489E22BF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71E1A9-DFFC-F2D7-B2CA-6FACAA87C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253293B0-56F3-BFA7-460D-01F74E8ABB48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D2C3064-9EEF-6BDB-75B7-4A40FD6743E3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60070F4-8884-4DC2-BFFF-5896EEA05CAE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347064B-CF29-E220-FF16-B82627C07D0F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Detecting Signal (monthly sales data)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51C9BD83-BCA8-E3DC-7788-723DEA3F8762}"/>
              </a:ext>
            </a:extLst>
          </p:cNvPr>
          <p:cNvSpPr/>
          <p:nvPr/>
        </p:nvSpPr>
        <p:spPr>
          <a:xfrm>
            <a:off x="566928" y="1576546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3654182-FEBF-1714-2519-AFD62E5F17EE}"/>
              </a:ext>
            </a:extLst>
          </p:cNvPr>
          <p:cNvSpPr/>
          <p:nvPr/>
        </p:nvSpPr>
        <p:spPr>
          <a:xfrm>
            <a:off x="1581912" y="2167128"/>
            <a:ext cx="9784080" cy="181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1B3F61-D3A4-2B0E-2C99-9604CFA8DEC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744225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282142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33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79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617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021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322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0441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118768"/>
                  </a:ext>
                </a:extLst>
              </a:tr>
            </a:tbl>
          </a:graphicData>
        </a:graphic>
      </p:graphicFrame>
      <p:sp>
        <p:nvSpPr>
          <p:cNvPr id="5" name="Shape 4">
            <a:extLst>
              <a:ext uri="{FF2B5EF4-FFF2-40B4-BE49-F238E27FC236}">
                <a16:creationId xmlns:a16="http://schemas.microsoft.com/office/drawing/2014/main" id="{140DF62F-3B19-5F17-5FB2-4C668B8BAC19}"/>
              </a:ext>
            </a:extLst>
          </p:cNvPr>
          <p:cNvSpPr/>
          <p:nvPr/>
        </p:nvSpPr>
        <p:spPr>
          <a:xfrm>
            <a:off x="3543300" y="547377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9C5E9BA-2F9A-C052-F018-47FAC6AABCCB}"/>
              </a:ext>
            </a:extLst>
          </p:cNvPr>
          <p:cNvSpPr/>
          <p:nvPr/>
        </p:nvSpPr>
        <p:spPr>
          <a:xfrm>
            <a:off x="4472940" y="5054742"/>
            <a:ext cx="4297680" cy="1327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May a signal or noise?</a:t>
            </a:r>
          </a:p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additional evidence is needed?</a:t>
            </a:r>
          </a:p>
        </p:txBody>
      </p:sp>
    </p:spTree>
    <p:extLst>
      <p:ext uri="{BB962C8B-B14F-4D97-AF65-F5344CB8AC3E}">
        <p14:creationId xmlns:p14="http://schemas.microsoft.com/office/powerpoint/2010/main" val="1035715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38CCC-F37F-5336-4151-D175D42A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2A39C2-574A-25B1-F241-9D1BCDAD8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D3B94206-3C1B-85A0-E1D8-F8A764470FF5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1F7F858-A659-AB37-D073-59745A1AFF70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1A285AB5-6CB0-C248-E94C-A09C79CB2438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80E28B8A-A037-23BD-F800-35BA46112EDA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Detecting Signal (monthly sales data)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F80A5AF4-3512-1E33-6656-86F146C980B9}"/>
              </a:ext>
            </a:extLst>
          </p:cNvPr>
          <p:cNvSpPr/>
          <p:nvPr/>
        </p:nvSpPr>
        <p:spPr>
          <a:xfrm>
            <a:off x="566928" y="1576546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4506D43-542F-14F6-8A43-118034C806E1}"/>
              </a:ext>
            </a:extLst>
          </p:cNvPr>
          <p:cNvSpPr/>
          <p:nvPr/>
        </p:nvSpPr>
        <p:spPr>
          <a:xfrm>
            <a:off x="1581912" y="2167128"/>
            <a:ext cx="9784080" cy="1815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9880C4-4439-5057-FA7C-AF8AEA1CD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591988"/>
            <a:ext cx="777240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94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5BB6C-FEE8-305B-2152-B641FCDBE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DD31D1-64F9-0614-6F65-374CDA71E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DE21D4F3-1ECD-59DB-4B0A-FAD79695A76C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82DA195-BB8F-DC27-D3C5-9497DEFBA3DD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6732236-CEC7-1846-3207-3880A25AAC1F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0272E825-2031-758C-F267-F934FDA8EDE7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Detecting Signal (monthly sales data)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BDDEE4B-800D-6B74-4BDB-76109D5FC5EA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9A0A08F-D93A-B0FE-A0EC-E9B020DB5DBB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for Jan, Feb, Mar, Apr, and Jun all cluster tightly within a narrow range between 198 and 215, establishing a clear baseline with a standard deviation (distance from average) of only 7.02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contrast, May's sales spike to 500, which is more than double the typical baseline. Statistically, this is a massive outlier—sitting nearly 42 standard deviations away from the baseline average of the other months. This degree of extreme variance indicates a significant, non-random event (a signal) rather than normal, everyday fluctuation</a:t>
            </a:r>
          </a:p>
        </p:txBody>
      </p:sp>
    </p:spTree>
    <p:extLst>
      <p:ext uri="{BB962C8B-B14F-4D97-AF65-F5344CB8AC3E}">
        <p14:creationId xmlns:p14="http://schemas.microsoft.com/office/powerpoint/2010/main" val="2501459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08080-8B00-99A2-1494-4A900A038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4E5C97-9E50-F066-E093-87FBE84BE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A9549228-401E-6067-E30F-02A6E056B719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3363686-ABFA-D161-2FA3-E1A20EE4BC95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005F9505-AF62-16FD-D245-B459ED9FB7FE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DA030D46-6FC1-6220-49A8-903AD5834A5E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(practical steps)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5D0BF15A-066E-D691-1EAC-8C841186C4C1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ECCAF91-C90E-A2D3-0D39-DE4B7C569039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Understand data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Profile data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Detect errors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Correct or document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Validate results</a:t>
            </a:r>
          </a:p>
        </p:txBody>
      </p:sp>
    </p:spTree>
    <p:extLst>
      <p:ext uri="{BB962C8B-B14F-4D97-AF65-F5344CB8AC3E}">
        <p14:creationId xmlns:p14="http://schemas.microsoft.com/office/powerpoint/2010/main" val="1495903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35ED9-21E2-76FF-722C-58BEF4164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4F2DA4-6FFA-4C1D-94CE-D849590EA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8C25CBFC-EDE1-B1A4-B7E4-1C2D0CB988EE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04E3E05-71AE-FDD8-A28F-46BF835B68F1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CC23E58B-35B4-ADAE-8E46-8F3FC139BE1C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DAD3A1D0-436D-2908-0E54-B06EC3FF021E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573543A-0205-7266-00FF-87AC4078CD69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r>
              <a:rPr lang="en-US" dirty="0"/>
              <a:t>import pandas as pd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endParaRPr lang="en-US" dirty="0"/>
          </a:p>
          <a:p>
            <a:r>
              <a:rPr lang="en-US" dirty="0"/>
              <a:t># Create a deliberately messy dataset</a:t>
            </a:r>
          </a:p>
          <a:p>
            <a:r>
              <a:rPr lang="en-US" dirty="0"/>
              <a:t>data = {</a:t>
            </a:r>
          </a:p>
          <a:p>
            <a:r>
              <a:rPr lang="en-US" dirty="0"/>
              <a:t>    "Facility": ["A", "B", "C", "C", "D", "E"],</a:t>
            </a:r>
          </a:p>
          <a:p>
            <a:r>
              <a:rPr lang="en-US" dirty="0"/>
              <a:t>    "</a:t>
            </a:r>
            <a:r>
              <a:rPr lang="en-US" dirty="0" err="1"/>
              <a:t>Packages_Processed</a:t>
            </a:r>
            <a:r>
              <a:rPr lang="en-US" dirty="0"/>
              <a:t>": [1200, 1500, </a:t>
            </a:r>
            <a:r>
              <a:rPr lang="en-US" dirty="0" err="1"/>
              <a:t>np.nan</a:t>
            </a:r>
            <a:r>
              <a:rPr lang="en-US" dirty="0"/>
              <a:t>, </a:t>
            </a:r>
            <a:r>
              <a:rPr lang="en-US" dirty="0" err="1"/>
              <a:t>np.nan</a:t>
            </a:r>
            <a:r>
              <a:rPr lang="en-US" dirty="0"/>
              <a:t>, 1800, 2100],</a:t>
            </a:r>
          </a:p>
          <a:p>
            <a:r>
              <a:rPr lang="en-US" dirty="0"/>
              <a:t>    "</a:t>
            </a:r>
            <a:r>
              <a:rPr lang="en-US" dirty="0" err="1"/>
              <a:t>Delivery_Time_Hours</a:t>
            </a:r>
            <a:r>
              <a:rPr lang="en-US" dirty="0"/>
              <a:t>": [24, 30, 28, 28, -5, 200],</a:t>
            </a:r>
          </a:p>
          <a:p>
            <a:r>
              <a:rPr lang="en-US" dirty="0"/>
              <a:t>    "</a:t>
            </a:r>
            <a:r>
              <a:rPr lang="en-US" dirty="0" err="1"/>
              <a:t>Customer_Satisfaction</a:t>
            </a:r>
            <a:r>
              <a:rPr lang="en-US" dirty="0"/>
              <a:t>": [85, 92, 88, 88, 105, 75]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df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endParaRPr lang="en-US" dirty="0"/>
          </a:p>
          <a:p>
            <a:r>
              <a:rPr lang="en-US" dirty="0"/>
              <a:t>print(df)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967A14C-33D4-73C2-4A22-C106EDE63C87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5449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0E787-0E02-C39D-4260-777A09A8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C4E80B-BB58-D213-7E58-6EAA4826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65CF26E5-1921-9313-176B-067B3F2C64BE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26F89E2-E45D-B18C-412F-F9EB9E59F8B1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6C73EC4C-EF2C-E63C-F7AC-3F429D8B2163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8A297FD0-A9E3-86D2-1A24-49BFE4BEC480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C5743F0-DF21-B1FC-695B-142C1A54A5DD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89463F0-EA4F-F2C2-2D9B-F8C6AC9BB470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BCB766-A948-0113-2206-A5F22B99D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737359"/>
            <a:ext cx="7772400" cy="436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55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C702D-54B9-B6FB-5BD1-D9069E499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516BFC-5474-1542-D1D0-67F5E38CF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DCA16F4E-9AC9-17A6-450D-C15833FCE396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10F4C7B5-567A-3602-8EA6-EEB8FE92674F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3EF0013-41BB-C978-5059-F8B2BA6B1A96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F76E865-1203-5252-41B4-04B50C663529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5D05A00-46E5-B976-96DB-88457938087B}"/>
              </a:ext>
            </a:extLst>
          </p:cNvPr>
          <p:cNvSpPr/>
          <p:nvPr/>
        </p:nvSpPr>
        <p:spPr>
          <a:xfrm>
            <a:off x="548640" y="171704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Expected results. What do we do?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71AC169-885A-FC2A-50A6-57A2DD5B81BD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D14B6C0-5C7A-9420-2ECE-EBAFF7262AB2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6763A8F-8B79-D276-482C-200526E5345F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9AF40E7-8AC1-644D-3352-FE2AF2C66552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39A2A66-077D-E68B-2BF2-AF9B28E5D203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(First, identify missing values)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396105-4ACB-7DDE-9534-DEAC5ACAB825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print(</a:t>
            </a:r>
            <a:r>
              <a:rPr lang="en-US" dirty="0" err="1"/>
              <a:t>df.isnull</a:t>
            </a:r>
            <a:r>
              <a:rPr lang="en-US" dirty="0"/>
              <a:t>().sum())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1CB3E2-5C28-99C8-6EAD-BF20050ED601}"/>
              </a:ext>
            </a:extLst>
          </p:cNvPr>
          <p:cNvSpPr txBox="1"/>
          <p:nvPr/>
        </p:nvSpPr>
        <p:spPr>
          <a:xfrm>
            <a:off x="3048000" y="454442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Facility                              0</a:t>
            </a:r>
          </a:p>
          <a:p>
            <a:r>
              <a:rPr lang="en-US" dirty="0" err="1"/>
              <a:t>Packages_Processed</a:t>
            </a:r>
            <a:r>
              <a:rPr lang="en-US" dirty="0"/>
              <a:t>       2</a:t>
            </a:r>
          </a:p>
          <a:p>
            <a:r>
              <a:rPr lang="en-US" dirty="0" err="1"/>
              <a:t>Delivery_Time_Hours</a:t>
            </a:r>
            <a:r>
              <a:rPr lang="en-US" dirty="0"/>
              <a:t>      0</a:t>
            </a:r>
          </a:p>
          <a:p>
            <a:r>
              <a:rPr lang="en-US" dirty="0" err="1"/>
              <a:t>Customer_Satisfaction</a:t>
            </a:r>
            <a:r>
              <a:rPr lang="en-US" dirty="0"/>
              <a:t>    0</a:t>
            </a:r>
          </a:p>
        </p:txBody>
      </p:sp>
    </p:spTree>
    <p:extLst>
      <p:ext uri="{BB962C8B-B14F-4D97-AF65-F5344CB8AC3E}">
        <p14:creationId xmlns:p14="http://schemas.microsoft.com/office/powerpoint/2010/main" val="595690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88B40-DD4D-8A98-915A-1B156F8C5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627102-BDAF-FEA4-2976-C4072AA18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2DDE5C85-5F06-3F79-B746-ABE007D619E2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436EB37-B9CB-11AF-4C98-632A9EEA854C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D77AB54-5C01-2EEC-E923-920E5774BC03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2EC24341-DBBF-EB18-D704-E1FDB0F02A92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58E5E05F-5393-3C1E-16BF-A608F0F601FB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One simple treatment is to replace missing numerical values with the median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58F86596-0C73-B26C-777B-3973A025B2DE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C496496-342C-75EE-FDE9-38DFFDB3C463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40059F2-A783-5F7F-E522-405F5ED41E3C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4D9AD22-43D6-091E-1BEC-61D7BFE5838E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8A40869-211E-6F8D-EEC4-B716B49C5A5E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(First, identify missing values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)</a:t>
            </a:r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F50EF-6DFD-7E84-4F5D-6F4683C51B02}"/>
              </a:ext>
            </a:extLst>
          </p:cNvPr>
          <p:cNvSpPr txBox="1"/>
          <p:nvPr/>
        </p:nvSpPr>
        <p:spPr>
          <a:xfrm>
            <a:off x="3177540" y="395630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median_packages</a:t>
            </a:r>
            <a:r>
              <a:rPr lang="en-US" dirty="0"/>
              <a:t> = df["</a:t>
            </a:r>
            <a:r>
              <a:rPr lang="en-US" dirty="0" err="1"/>
              <a:t>Packages_Processed</a:t>
            </a:r>
            <a:r>
              <a:rPr lang="en-US" dirty="0"/>
              <a:t>"].median()</a:t>
            </a:r>
          </a:p>
          <a:p>
            <a:endParaRPr lang="en-US" dirty="0"/>
          </a:p>
          <a:p>
            <a:r>
              <a:rPr lang="en-US" dirty="0"/>
              <a:t>df["</a:t>
            </a:r>
            <a:r>
              <a:rPr lang="en-US" dirty="0" err="1"/>
              <a:t>Packages_Processed</a:t>
            </a:r>
            <a:r>
              <a:rPr lang="en-US" dirty="0"/>
              <a:t>"] = (</a:t>
            </a:r>
          </a:p>
          <a:p>
            <a:r>
              <a:rPr lang="en-US" dirty="0"/>
              <a:t>    df["</a:t>
            </a:r>
            <a:r>
              <a:rPr lang="en-US" dirty="0" err="1"/>
              <a:t>Packages_Processed</a:t>
            </a:r>
            <a:r>
              <a:rPr lang="en-US" dirty="0"/>
              <a:t>"].</a:t>
            </a:r>
            <a:r>
              <a:rPr lang="en-US" dirty="0" err="1"/>
              <a:t>fillna</a:t>
            </a:r>
            <a:r>
              <a:rPr lang="en-US" dirty="0"/>
              <a:t>(</a:t>
            </a:r>
            <a:r>
              <a:rPr lang="en-US" dirty="0" err="1"/>
              <a:t>median_packages</a:t>
            </a:r>
            <a:r>
              <a:rPr lang="en-US" dirty="0"/>
              <a:t>)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print(df)</a:t>
            </a:r>
          </a:p>
        </p:txBody>
      </p:sp>
    </p:spTree>
    <p:extLst>
      <p:ext uri="{BB962C8B-B14F-4D97-AF65-F5344CB8AC3E}">
        <p14:creationId xmlns:p14="http://schemas.microsoft.com/office/powerpoint/2010/main" val="3885862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3C2E3-4024-216F-D662-70EAEC3D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28CCA6-4C67-3BCB-FDAB-1A14E6A99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8E9BEBE-85E2-6A2C-3BBE-D83933E764B4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24F6172-B906-1A9C-F1BB-3CF5EDD1F054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7A0F65C-C81C-61DE-4C51-B67298DE7878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880E9F2E-D1D3-B753-0C12-7A9CA56C0ABF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E8188334-EB0B-EAB7-B548-77396B6BB6BA}"/>
              </a:ext>
            </a:extLst>
          </p:cNvPr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automatically delete every row containing missing data. The appropriate treatment depends on why the value is missing and how the data will be used.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8F8DDDC-0A58-8F82-7588-370ABB41F1D1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F049178-DF85-59E8-1366-22669C32FE21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689C77F1-9832-FDBD-673C-CF0B5CC419D5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356745B-56F1-9E48-51CA-2CDF4E68B610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69E2621-721C-6E6D-6C9D-F4311133A0FB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(First, identify missing values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</a:t>
            </a:r>
            <a:endParaRPr lang="en-US" sz="14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2842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53FA6-79C8-6C43-B25F-1C157975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4D8E48-B08D-F76C-38B3-09CEC5B85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A9DB2B4B-3A73-507C-E4AD-B0E3482FC9D6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221DDEB-8CD9-B007-8EA5-0CFD2B2CE23D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F2869D2B-A319-A65F-1ADB-331E2BEAFAE8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F5625912-A15C-C255-E093-64155AB872E3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95333E3-1A2D-10C8-A21B-68DDC8FAAD44}"/>
              </a:ext>
            </a:extLst>
          </p:cNvPr>
          <p:cNvSpPr/>
          <p:nvPr/>
        </p:nvSpPr>
        <p:spPr>
          <a:xfrm>
            <a:off x="548640" y="172720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duplicate records: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2B2F7CEC-A448-C63E-47A6-3177C642349B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62766D4-0A88-5607-7142-F8B207D3BBCB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D39049C-508A-BAEF-4245-688019FB0986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648DC4F-114B-005C-B3CE-BC20D25CB4AC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E16AD89-C675-4AD5-F700-3B0032C01E60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D8169-BEC1-1BCD-F9A3-EE643E9BC321}"/>
              </a:ext>
            </a:extLst>
          </p:cNvPr>
          <p:cNvSpPr txBox="1"/>
          <p:nvPr/>
        </p:nvSpPr>
        <p:spPr>
          <a:xfrm>
            <a:off x="3048000" y="434016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duplicates = df[</a:t>
            </a:r>
            <a:r>
              <a:rPr lang="en-US" dirty="0" err="1"/>
              <a:t>df.duplicated</a:t>
            </a:r>
            <a:r>
              <a:rPr lang="en-US" dirty="0"/>
              <a:t>()]</a:t>
            </a:r>
          </a:p>
          <a:p>
            <a:endParaRPr lang="en-US" dirty="0"/>
          </a:p>
          <a:p>
            <a:r>
              <a:rPr lang="en-US" dirty="0"/>
              <a:t>print(duplicates)</a:t>
            </a:r>
          </a:p>
        </p:txBody>
      </p:sp>
    </p:spTree>
    <p:extLst>
      <p:ext uri="{BB962C8B-B14F-4D97-AF65-F5344CB8AC3E}">
        <p14:creationId xmlns:p14="http://schemas.microsoft.com/office/powerpoint/2010/main" val="42874440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C933C-88BC-8A75-7C06-F0FB466E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0BDECD-777D-3C7F-B952-CC4D0A786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5DC971C2-EE93-F61E-716B-D22EF6E20634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EDA6701-05D2-55DC-81EE-F4299746D91B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716C1FB-8203-6B7D-FB3C-BCE5260A2885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2FA0960-E3DB-D9E3-CEA5-1E8BB46DE074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C763E523-A081-372F-DF37-12932CAE6151}"/>
              </a:ext>
            </a:extLst>
          </p:cNvPr>
          <p:cNvSpPr/>
          <p:nvPr/>
        </p:nvSpPr>
        <p:spPr>
          <a:xfrm>
            <a:off x="548640" y="172720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also count them: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5DB73B37-45AC-189C-F802-57215A6F6D7B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B6B0A81-4AAA-F1B1-BF56-918486ADC157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1E43318-CF9D-22C9-F158-FF4E22D6A07F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E8C9937-EF6A-37F1-1ACE-293419E7D048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172CDEA-144B-86CD-8559-0AA47DCB5981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7E8D1-B88A-67B1-3ACD-B1198CCA0DD8}"/>
              </a:ext>
            </a:extLst>
          </p:cNvPr>
          <p:cNvSpPr txBox="1"/>
          <p:nvPr/>
        </p:nvSpPr>
        <p:spPr>
          <a:xfrm>
            <a:off x="3032760" y="40965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print("Number of duplicates:", </a:t>
            </a:r>
            <a:r>
              <a:rPr lang="en-US" dirty="0" err="1"/>
              <a:t>df.duplicated</a:t>
            </a:r>
            <a:r>
              <a:rPr lang="en-US" dirty="0"/>
              <a:t>().sum())</a:t>
            </a:r>
          </a:p>
        </p:txBody>
      </p:sp>
    </p:spTree>
    <p:extLst>
      <p:ext uri="{BB962C8B-B14F-4D97-AF65-F5344CB8AC3E}">
        <p14:creationId xmlns:p14="http://schemas.microsoft.com/office/powerpoint/2010/main" val="3835975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25FE6-292A-14E2-7618-9B40711A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BACC16-C626-574F-11FF-7C54B1926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AC32DF78-C0F3-E8ED-62C6-A22C643FBCAE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BBCCD5D-4D30-78E8-2330-1C7FBEB98E1B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7CA2C60-3405-E2CA-1A5E-5B1C7FCA1FEA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B5C8F159-0173-CEA3-F1CF-1C5926A39717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BB81B57-7460-34D2-5F87-28A930131A3B}"/>
              </a:ext>
            </a:extLst>
          </p:cNvPr>
          <p:cNvSpPr/>
          <p:nvPr/>
        </p:nvSpPr>
        <p:spPr>
          <a:xfrm>
            <a:off x="548640" y="172720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remove exact duplicates: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DB196E4-9AFE-8365-A897-82E0251E8E3C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658A1D0-545A-3EAF-E7BB-358D688CCDAB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2A3F771-91C6-95EB-BAD9-D5A750AFFA7D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064FF3A-4A8D-818D-EB8D-5F4F81275C2F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6411FD6-5FA3-9602-51FC-41B401347BA1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E2989-8296-69F0-24B8-43819973B815}"/>
              </a:ext>
            </a:extLst>
          </p:cNvPr>
          <p:cNvSpPr txBox="1"/>
          <p:nvPr/>
        </p:nvSpPr>
        <p:spPr>
          <a:xfrm>
            <a:off x="3048000" y="38760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df = df.drop_duplicates()</a:t>
            </a:r>
          </a:p>
        </p:txBody>
      </p:sp>
    </p:spTree>
    <p:extLst>
      <p:ext uri="{BB962C8B-B14F-4D97-AF65-F5344CB8AC3E}">
        <p14:creationId xmlns:p14="http://schemas.microsoft.com/office/powerpoint/2010/main" val="31867649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B6165-CC37-5144-C961-18017927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487461-BB7E-5A15-A27B-D625CB6B7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D97EE9E-651E-109C-77CB-4752B4F849F5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4289978-20AC-9299-238D-3AC5D2F1F9EF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4A68200-438D-D8B6-2CE4-48525E513CCD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2EE58AEC-94B9-8BA1-288F-B9193A53D0EB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165858A-3353-8994-7923-E4273C13F58A}"/>
              </a:ext>
            </a:extLst>
          </p:cNvPr>
          <p:cNvSpPr/>
          <p:nvPr/>
        </p:nvSpPr>
        <p:spPr>
          <a:xfrm>
            <a:off x="548640" y="172720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 is not automatically an error. Two identical transactions may represent two legitimate events.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analysts should first determine what uniquely identifies a record—such as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Facility_ID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Date, or another business key.: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948F2F8-51A2-6766-D8ED-0E3CF5BFA705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E20E606-0F05-D7C9-E3C3-C1C737329ECC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442D2B9-568D-7D99-5A77-3AD54763AC09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3AF37A9-20F8-5B8F-1E42-3C0EB21EF2A9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0553EAA-A230-EFA1-54A6-933D3220A3A9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</a:p>
        </p:txBody>
      </p:sp>
    </p:spTree>
    <p:extLst>
      <p:ext uri="{BB962C8B-B14F-4D97-AF65-F5344CB8AC3E}">
        <p14:creationId xmlns:p14="http://schemas.microsoft.com/office/powerpoint/2010/main" val="3037474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DB059-7828-EE09-D064-DD4D012A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A094A9-3E9D-D925-C982-1CB7790DD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A76A2451-F4EC-58D1-0D04-6F274A60010E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6377250-5A84-A642-C892-FF1D188CCAB7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6742F33-2C10-2882-59B3-735EDB8B9961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F93C1C37-0974-78B5-7856-A3E7306C6C94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2C98A0C-839D-7E57-BA93-49745C3BD4C8}"/>
              </a:ext>
            </a:extLst>
          </p:cNvPr>
          <p:cNvSpPr/>
          <p:nvPr/>
        </p:nvSpPr>
        <p:spPr>
          <a:xfrm>
            <a:off x="548640" y="172720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the business rules are: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 err="1"/>
              <a:t>Delivery_Time_Hours</a:t>
            </a:r>
            <a:r>
              <a:rPr lang="en-US" dirty="0"/>
              <a:t>:</a:t>
            </a:r>
          </a:p>
          <a:p>
            <a:r>
              <a:rPr lang="en-US" dirty="0"/>
              <a:t>    Valid range = 0 to 120 hours</a:t>
            </a:r>
          </a:p>
          <a:p>
            <a:r>
              <a:rPr lang="en-US" dirty="0" err="1"/>
              <a:t>Customer_Satisfaction</a:t>
            </a:r>
            <a:r>
              <a:rPr lang="en-US" dirty="0"/>
              <a:t>:</a:t>
            </a:r>
          </a:p>
          <a:p>
            <a:r>
              <a:rPr lang="en-US" dirty="0"/>
              <a:t>    Valid range = 0 to 100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854ED2A-94E1-9B08-E6A4-38EBB37233C0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7B418EF-FE53-BC3A-CE45-9EA34DF7F070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7F9E6A0-C54E-A54D-CCFE-321427F41C80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5572155-180E-2AC7-04CF-A5DE3C64B25C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3A5EBB4-4E75-D3E8-65FC-A4C3C89A85B0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ranges</a:t>
            </a:r>
          </a:p>
        </p:txBody>
      </p:sp>
    </p:spTree>
    <p:extLst>
      <p:ext uri="{BB962C8B-B14F-4D97-AF65-F5344CB8AC3E}">
        <p14:creationId xmlns:p14="http://schemas.microsoft.com/office/powerpoint/2010/main" val="3082083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E2B5D-053E-14C6-BE0A-B24220C9A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920ED4-7545-1C60-7F63-7BFEEF38A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1EF0E5FC-5AC9-E035-F35B-2D94A6DF2EDE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5391E60-5F02-5286-C056-750918AAFAED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59139C54-2220-0910-1B8A-228CE6647389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3ECDA50-CF15-2803-F5FF-A4D154AC045C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C558273E-786B-DEDC-D7E2-A6CA6A6D46FE}"/>
              </a:ext>
            </a:extLst>
          </p:cNvPr>
          <p:cNvSpPr/>
          <p:nvPr/>
        </p:nvSpPr>
        <p:spPr>
          <a:xfrm>
            <a:off x="548640" y="172720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detect violations: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invalid_delivery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df[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(df["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Delivery_Time_Hours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 &lt; 0) |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(df["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Delivery_Time_Hours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 &gt; 120)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invalid_delivery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F395832-324A-D3A5-F7D5-034DE7495BAB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9F7438C-1998-1F18-E48D-4DD06D2F0C96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0714E067-DCCE-96BB-3CF1-C54416A8AF45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F68AD53-1A61-7D03-FF9C-460040C5BB68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D0D1102-FBAB-11FC-5BA1-12158A53172B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ranges</a:t>
            </a:r>
          </a:p>
        </p:txBody>
      </p:sp>
    </p:spTree>
    <p:extLst>
      <p:ext uri="{BB962C8B-B14F-4D97-AF65-F5344CB8AC3E}">
        <p14:creationId xmlns:p14="http://schemas.microsoft.com/office/powerpoint/2010/main" val="29148294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B65B4-C507-D3CB-F25E-E14497A4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81B890-83CA-C70A-08C1-915F82F8F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DB538CAA-5A8B-B355-59B5-FBB18CB2F1FE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441BDA2-3C57-A485-2449-7DE42D28CC84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B0F1967A-35E3-DD2B-892D-93C4A1FFB82F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F2205F4-4315-73BB-F17B-2A7D01A8C7CE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AB0A04E-49C9-74C4-927E-51DB8F194734}"/>
              </a:ext>
            </a:extLst>
          </p:cNvPr>
          <p:cNvSpPr/>
          <p:nvPr/>
        </p:nvSpPr>
        <p:spPr>
          <a:xfrm>
            <a:off x="548640" y="172720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identifies both -5 and 200 as invalid delivery times.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 satisfaction: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invalid_satisfaction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df[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(df["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Customer_Satisfaction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 &lt; 0) |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(df["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Customer_Satisfaction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 &gt; 100)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invalid_satisfaction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53CF540-16CF-0C89-D5A3-F5E50286315A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71C23C7-BAA2-82E2-922E-D58F28AD4C52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11BCAF5-6E72-CD09-8DEF-A46BF80BADEB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96E8F93-6131-429C-9CC9-6CCF126A6223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1B7026C-ADF8-F780-3BF0-DFA66B749E47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ranges</a:t>
            </a:r>
          </a:p>
        </p:txBody>
      </p:sp>
    </p:spTree>
    <p:extLst>
      <p:ext uri="{BB962C8B-B14F-4D97-AF65-F5344CB8AC3E}">
        <p14:creationId xmlns:p14="http://schemas.microsoft.com/office/powerpoint/2010/main" val="137288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55400-9CCC-E036-C358-556FF5B3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BD651A-A897-F871-4434-B8717ECA3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DE1DAE1A-6E1E-0141-F71A-79CEC2B3F696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374454F-AF6D-DFA6-628A-163347E44957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14C8BC13-B6FC-5820-32B7-9437D8B9F54F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ACD8A6FB-7D69-AAF6-14C7-EA4856EE8F38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A8621EBB-6DD2-FA18-7A96-D7DCD293E638}"/>
              </a:ext>
            </a:extLst>
          </p:cNvPr>
          <p:cNvSpPr/>
          <p:nvPr/>
        </p:nvSpPr>
        <p:spPr>
          <a:xfrm>
            <a:off x="548640" y="171704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105 is invalid because satisfaction cannot exceed 100%.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flag invalid values rather than immediately deleting the records:</a:t>
            </a:r>
          </a:p>
          <a:p>
            <a:endParaRPr lang="en-US" sz="1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Delivery_Time_Valid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 = (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df["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Delivery_Time_Hours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"].between(0, 120)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endParaRPr lang="en-US" sz="1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Satisfaction_Valid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 = (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df["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Customer_Satisfaction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"].between(0, 100)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endParaRPr lang="en-US" sz="1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print(df)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CDE620A-3550-F7C7-2A4E-18C6C0E4E268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6EF631E-2FC8-81FD-0A6B-DAA54233433A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3D1207AC-F009-A989-CF59-3DBCCF93BC75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075E1FB-66CB-4DF6-F152-3B96CB9C555C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AD8C57B-0C0F-C89C-0C18-7B7CDF6732B7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ranges</a:t>
            </a:r>
          </a:p>
        </p:txBody>
      </p:sp>
    </p:spTree>
    <p:extLst>
      <p:ext uri="{BB962C8B-B14F-4D97-AF65-F5344CB8AC3E}">
        <p14:creationId xmlns:p14="http://schemas.microsoft.com/office/powerpoint/2010/main" val="11991002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8BE4C-A135-62AA-377F-84DAC544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2A641F-2DB7-936C-4711-BCADC7809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BA3927DF-806E-028D-4193-F7374926F3F8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DBB4061-682F-D0E7-78A7-5B71C12610FF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6490E23-C1C6-9B9C-7CDF-95A224C74125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4C464B4B-196F-C594-B79B-5AD59DD8F9FE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4A0647A-A786-6960-1305-3CB86402D0A8}"/>
              </a:ext>
            </a:extLst>
          </p:cNvPr>
          <p:cNvSpPr/>
          <p:nvPr/>
        </p:nvSpPr>
        <p:spPr>
          <a:xfrm>
            <a:off x="548640" y="1727200"/>
            <a:ext cx="11064240" cy="42976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often preferable because it preserves the original data for investigation. Putting everything together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941E337-108C-382E-969A-16BA4E408C05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E10EA21-906B-F7DA-1256-DCC32E38D099}"/>
              </a:ext>
            </a:extLst>
          </p:cNvPr>
          <p:cNvSpPr/>
          <p:nvPr/>
        </p:nvSpPr>
        <p:spPr>
          <a:xfrm>
            <a:off x="3116580" y="178119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E8000C0C-ECDD-D5BD-FC75-DABE2A00D333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19EE712-C132-5EDD-A2BD-6C49D701D4F8}"/>
              </a:ext>
            </a:extLst>
          </p:cNvPr>
          <p:cNvSpPr/>
          <p:nvPr/>
        </p:nvSpPr>
        <p:spPr>
          <a:xfrm>
            <a:off x="339090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85B9EDD-7DC1-1936-75DF-25251690DE49}"/>
              </a:ext>
            </a:extLst>
          </p:cNvPr>
          <p:cNvSpPr/>
          <p:nvPr/>
        </p:nvSpPr>
        <p:spPr>
          <a:xfrm>
            <a:off x="4076700" y="1737360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ranges</a:t>
            </a:r>
          </a:p>
        </p:txBody>
      </p:sp>
    </p:spTree>
    <p:extLst>
      <p:ext uri="{BB962C8B-B14F-4D97-AF65-F5344CB8AC3E}">
        <p14:creationId xmlns:p14="http://schemas.microsoft.com/office/powerpoint/2010/main" val="749380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FCABA-EF75-0F01-5622-32E53468A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898AE5-0A79-E576-F635-54A4F6F2F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BD084C73-94F4-1D72-7476-D25F962FFF85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37C9469-A453-7CA1-68DE-82AAF0258349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F0AC92B0-B8ED-D96F-3205-F757F1BE4F64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4742CE18-4133-BC44-8164-62A34049E1F7}"/>
              </a:ext>
            </a:extLst>
          </p:cNvPr>
          <p:cNvSpPr/>
          <p:nvPr/>
        </p:nvSpPr>
        <p:spPr>
          <a:xfrm>
            <a:off x="548640" y="73609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A404C7A-EFCF-8A9D-2266-5DF6D693AA69}"/>
              </a:ext>
            </a:extLst>
          </p:cNvPr>
          <p:cNvSpPr/>
          <p:nvPr/>
        </p:nvSpPr>
        <p:spPr>
          <a:xfrm>
            <a:off x="548640" y="1262888"/>
            <a:ext cx="11064240" cy="56565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everything together. A compact data-quality check could look like this:</a:t>
            </a:r>
          </a:p>
          <a:p>
            <a:r>
              <a:rPr lang="en-US" sz="1000" dirty="0"/>
              <a:t>)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 as pd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np</a:t>
            </a:r>
          </a:p>
          <a:p>
            <a:endParaRPr lang="en-US" sz="9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{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"Facility": ["A", "B", "C", "C", "D", "E"],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Packages_Processed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": [1200, 1500,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np.nan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np.nan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1800, 2100],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Delivery_Time_Hours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": [24, 30, 28, 28, -5, 200],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Customer_Satisfaction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": [85, 92, 88, 88, 105, 75]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</a:p>
          <a:p>
            <a:endParaRPr lang="en-US" sz="9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pd.DataFrame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(data)</a:t>
            </a:r>
          </a:p>
          <a:p>
            <a:endParaRPr lang="en-US" sz="9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1. Check missing values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print("MISSING VALUES")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().sum())</a:t>
            </a:r>
          </a:p>
          <a:p>
            <a:endParaRPr lang="en-US" sz="9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2. Check duplicates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print("\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nDUPLICATES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")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print(df[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()])</a:t>
            </a:r>
          </a:p>
          <a:p>
            <a:endParaRPr lang="en-US" sz="9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3. Check invalid ranges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print("\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nINVALID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DELIVERY TIMES")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print(df[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~df["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Delivery_Time_Hours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"].between(0, 120)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</a:p>
          <a:p>
            <a:endParaRPr lang="en-US" sz="9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print("\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nINVALID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SATISFACTION SCORES")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print(df[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~df["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Customer_Satisfaction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"].between(0, 100)</a:t>
            </a:r>
          </a:p>
          <a:p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27DF427-3F16-EF30-E5AF-CF982FE4C78C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B52C241-24F6-D0D9-F717-8F131D5ABB80}"/>
              </a:ext>
            </a:extLst>
          </p:cNvPr>
          <p:cNvSpPr/>
          <p:nvPr/>
        </p:nvSpPr>
        <p:spPr>
          <a:xfrm>
            <a:off x="3116580" y="1303417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C44F434-F53B-185E-3CCD-020ED93E7D3E}"/>
              </a:ext>
            </a:extLst>
          </p:cNvPr>
          <p:cNvSpPr/>
          <p:nvPr/>
        </p:nvSpPr>
        <p:spPr>
          <a:xfrm>
            <a:off x="4335780" y="144018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D305DDD-4BE0-70ED-7CD3-50CB6CCC8D11}"/>
              </a:ext>
            </a:extLst>
          </p:cNvPr>
          <p:cNvSpPr/>
          <p:nvPr/>
        </p:nvSpPr>
        <p:spPr>
          <a:xfrm>
            <a:off x="43357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3CDE54D-9B52-5DF4-60A7-5DF6309F8C04}"/>
              </a:ext>
            </a:extLst>
          </p:cNvPr>
          <p:cNvSpPr/>
          <p:nvPr/>
        </p:nvSpPr>
        <p:spPr>
          <a:xfrm>
            <a:off x="4991100" y="1145286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ranges</a:t>
            </a:r>
          </a:p>
        </p:txBody>
      </p:sp>
    </p:spTree>
    <p:extLst>
      <p:ext uri="{BB962C8B-B14F-4D97-AF65-F5344CB8AC3E}">
        <p14:creationId xmlns:p14="http://schemas.microsoft.com/office/powerpoint/2010/main" val="15750916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1654D-6BF5-7AC0-E381-681F03ED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7BD5C5-4D94-B045-7CE1-15C939A8F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752F8AB7-F5CA-F4C1-5060-EE5F9AA96797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F485DAA-8383-3919-6174-1F3C02FE4DC2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5B91BFE3-6E0F-5587-F95F-85392E4097CC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521C463E-6D81-76A2-B07D-5E901B2112AB}"/>
              </a:ext>
            </a:extLst>
          </p:cNvPr>
          <p:cNvSpPr/>
          <p:nvPr/>
        </p:nvSpPr>
        <p:spPr>
          <a:xfrm>
            <a:off x="548640" y="73609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EE978AC7-47DE-B1A4-1D8E-3AC3FD5FEDC9}"/>
              </a:ext>
            </a:extLst>
          </p:cNvPr>
          <p:cNvSpPr/>
          <p:nvPr/>
        </p:nvSpPr>
        <p:spPr>
          <a:xfrm>
            <a:off x="548640" y="1417320"/>
            <a:ext cx="11064240" cy="526796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lesson is that these checks answer three different analytical questions: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1A05FD2-C6B7-E825-9A51-5C90948A8A67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8D75DD5-ADED-2295-A93E-36C09B29D1BF}"/>
              </a:ext>
            </a:extLst>
          </p:cNvPr>
          <p:cNvSpPr/>
          <p:nvPr/>
        </p:nvSpPr>
        <p:spPr>
          <a:xfrm>
            <a:off x="3116580" y="143660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48419EC-07B3-557D-0CC9-5D9BD3E21815}"/>
              </a:ext>
            </a:extLst>
          </p:cNvPr>
          <p:cNvSpPr/>
          <p:nvPr/>
        </p:nvSpPr>
        <p:spPr>
          <a:xfrm>
            <a:off x="4335780" y="144018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4E943E7-7B2D-93A0-CB15-0F78B64833EE}"/>
              </a:ext>
            </a:extLst>
          </p:cNvPr>
          <p:cNvSpPr/>
          <p:nvPr/>
        </p:nvSpPr>
        <p:spPr>
          <a:xfrm>
            <a:off x="43357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BB694DB-764D-57F8-A137-E6394C9D18DE}"/>
              </a:ext>
            </a:extLst>
          </p:cNvPr>
          <p:cNvSpPr/>
          <p:nvPr/>
        </p:nvSpPr>
        <p:spPr>
          <a:xfrm>
            <a:off x="4991100" y="1145286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ranges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5F7FAF5-91EC-3931-F0A0-9A39EB869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305741"/>
              </p:ext>
            </p:extLst>
          </p:nvPr>
        </p:nvGraphicFramePr>
        <p:xfrm>
          <a:off x="786384" y="3094848"/>
          <a:ext cx="10515600" cy="2529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114906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310471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21447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Problem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Question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Risk if ignored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40275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Missing values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What information is absent?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Biased averages and incomplete conclusions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1111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Duplicates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Are observations being counted more than once?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Inflated totals and frequencies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74559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Invalid ranges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Are values logically/business-rule valid?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Impossible values distort analysis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53808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731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356EC-AA83-E88F-213E-B17F0232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62C660-F968-E892-CA9F-A7F127611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AAFFC3C9-EBE2-FEBC-4355-B828B26A8C40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93C5F9B-A029-1BCA-A25C-1AA123063880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40DD44C-9409-54F7-B06D-F287B717B1B2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DC68A84-9368-6932-05A3-62BF9F2E2C49}"/>
              </a:ext>
            </a:extLst>
          </p:cNvPr>
          <p:cNvSpPr/>
          <p:nvPr/>
        </p:nvSpPr>
        <p:spPr>
          <a:xfrm>
            <a:off x="548640" y="73609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Demo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A3B9F19E-E1E2-15D1-F4EC-DF0777C9057D}"/>
              </a:ext>
            </a:extLst>
          </p:cNvPr>
          <p:cNvSpPr/>
          <p:nvPr/>
        </p:nvSpPr>
        <p:spPr>
          <a:xfrm>
            <a:off x="548640" y="1417320"/>
            <a:ext cx="11064240" cy="526796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Final data cleaning framework: 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Detect → Investigate → Decide → Document. 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5995E8B-157B-A4E8-F446-E94A834AC5D4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2D97B7BA-C9B2-A816-7470-F7E6F1DA5001}"/>
              </a:ext>
            </a:extLst>
          </p:cNvPr>
          <p:cNvSpPr/>
          <p:nvPr/>
        </p:nvSpPr>
        <p:spPr>
          <a:xfrm>
            <a:off x="3116580" y="1436600"/>
            <a:ext cx="5486400" cy="936467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01EA2A6E-494D-F7FE-CAD8-B600AD3AF7FF}"/>
              </a:ext>
            </a:extLst>
          </p:cNvPr>
          <p:cNvSpPr/>
          <p:nvPr/>
        </p:nvSpPr>
        <p:spPr>
          <a:xfrm>
            <a:off x="4335780" y="144018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2698CC8-8032-6FD7-83AF-A6F6E8581E80}"/>
              </a:ext>
            </a:extLst>
          </p:cNvPr>
          <p:cNvSpPr/>
          <p:nvPr/>
        </p:nvSpPr>
        <p:spPr>
          <a:xfrm>
            <a:off x="43357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EFBAFA2-1C95-DDB0-2A48-5E6BD11A2565}"/>
              </a:ext>
            </a:extLst>
          </p:cNvPr>
          <p:cNvSpPr/>
          <p:nvPr/>
        </p:nvSpPr>
        <p:spPr>
          <a:xfrm>
            <a:off x="4991100" y="1145286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ranges</a:t>
            </a:r>
          </a:p>
        </p:txBody>
      </p:sp>
    </p:spTree>
    <p:extLst>
      <p:ext uri="{BB962C8B-B14F-4D97-AF65-F5344CB8AC3E}">
        <p14:creationId xmlns:p14="http://schemas.microsoft.com/office/powerpoint/2010/main" val="36024820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D3CD7-7A1C-DC7C-7D28-1203085A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00CEC9-AEAA-B4FA-4DA1-C1C6F4769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B83F8BB-B72F-A513-2CFA-5AE0CF505699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93FA1EA-AB37-D680-5541-7C230A64E0E2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82EDFAD-B51C-961A-36AF-4C1F5D133DC4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CC291688-B9DA-3099-03FF-F06546BD90B3}"/>
              </a:ext>
            </a:extLst>
          </p:cNvPr>
          <p:cNvSpPr/>
          <p:nvPr/>
        </p:nvSpPr>
        <p:spPr>
          <a:xfrm>
            <a:off x="548640" y="73609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Data Cleaning Challenge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814ED84-EDB9-DCCE-A622-2E2C06DB32FA}"/>
              </a:ext>
            </a:extLst>
          </p:cNvPr>
          <p:cNvSpPr/>
          <p:nvPr/>
        </p:nvSpPr>
        <p:spPr>
          <a:xfrm>
            <a:off x="548640" y="1427480"/>
            <a:ext cx="11064240" cy="526796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Cleanup Challenge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messy dataset containing: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 and justify every decision.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dataset at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https://github.com/IsaacKGang/USPS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E7B6FC3-CCAD-29FF-7988-0297658C8651}"/>
              </a:ext>
            </a:extLst>
          </p:cNvPr>
          <p:cNvSpPr/>
          <p:nvPr/>
        </p:nvSpPr>
        <p:spPr>
          <a:xfrm>
            <a:off x="1581912" y="2167128"/>
            <a:ext cx="9784080" cy="324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6652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F11DA-A4C6-C381-48C2-F1072F86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04611C-FE81-0860-89BC-3B621DA4B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7B1B0ECA-D5A4-87BE-482C-D8BE122CF36F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9A13692-7B17-F698-8A81-359D7E227B19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C54EB1E-FFEA-5476-8253-BCEDD15DA104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02921B3E-02C1-F7D7-35B8-54CE3EFD0098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vs Causation: USPS example  </a:t>
            </a:r>
            <a:endParaRPr lang="en-US" sz="3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7A214E0-1465-C392-E684-4CD2B97EBEC1}"/>
              </a:ext>
            </a:extLst>
          </p:cNvPr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25B8651-F6E7-FC6D-042B-434BC0C5B799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delivered later in winter. 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winter cause delays?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Maybe.</a:t>
            </a:r>
          </a:p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F0B7F251-6F1E-CF37-69D6-EFF24DDE8582}"/>
              </a:ext>
            </a:extLst>
          </p:cNvPr>
          <p:cNvSpPr/>
          <p:nvPr/>
        </p:nvSpPr>
        <p:spPr>
          <a:xfrm>
            <a:off x="548640" y="32918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0365258E-B47E-ABCA-AE2F-F7330E77BA3C}"/>
              </a:ext>
            </a:extLst>
          </p:cNvPr>
          <p:cNvSpPr/>
          <p:nvPr/>
        </p:nvSpPr>
        <p:spPr>
          <a:xfrm>
            <a:off x="1600200" y="329184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additional evidence: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Snowfall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availability</a:t>
            </a:r>
            <a:endParaRPr lang="en-US" sz="17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9164DEE2-5A52-6074-EC8B-FCAA3393DC03}"/>
              </a:ext>
            </a:extLst>
          </p:cNvPr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223B4B14-CE00-8C40-6D0E-C4E35D3EF221}"/>
              </a:ext>
            </a:extLst>
          </p:cNvPr>
          <p:cNvSpPr/>
          <p:nvPr/>
        </p:nvSpPr>
        <p:spPr>
          <a:xfrm>
            <a:off x="1600200" y="484632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failures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504857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D7179-249D-3E6A-2F00-022A299E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FF94B7-F961-A090-720B-ACC452ADA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635A763E-2A85-7DD5-C705-48806148F462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3BE0EDD-F237-83B7-5727-13AB28DCF8E8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BBC7E812-BC1A-23AC-64EA-BF99D5FA9B57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A61E6B41-F293-6D4F-1A59-D1E2B2274F23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Pyramid  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B83A1-D019-0DB1-4308-DF1CF0324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750" y="342900"/>
            <a:ext cx="22225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242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31401-957C-3906-FD24-5395BB52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102EEA-84C5-BAC6-408E-D1E93C6F9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4E371F0D-49BE-145F-36FC-2AC4B3846750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85605C7-A786-0DF0-5D43-9C1035023D1D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25E79364-C843-2EBF-8102-C34B1A33F33E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45201F04-467A-A09C-BBBE-A15844BD9BE4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endParaRPr lang="en-US" sz="3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38B75D-ED5A-BE88-2CFB-2B781964F8E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587656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95950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3190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Delivery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Volume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672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6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8.2M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699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8.9M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788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9.8M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63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10.4M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167102"/>
                  </a:ext>
                </a:extLst>
              </a:tr>
            </a:tbl>
          </a:graphicData>
        </a:graphic>
      </p:graphicFrame>
      <p:sp>
        <p:nvSpPr>
          <p:cNvPr id="5" name="Text 6">
            <a:extLst>
              <a:ext uri="{FF2B5EF4-FFF2-40B4-BE49-F238E27FC236}">
                <a16:creationId xmlns:a16="http://schemas.microsoft.com/office/drawing/2014/main" id="{464F0A03-FC51-AADE-CEFA-4EB7934605C3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B37197-D9C8-4E02-A8F8-D685E1D37465}"/>
              </a:ext>
            </a:extLst>
          </p:cNvPr>
          <p:cNvSpPr/>
          <p:nvPr/>
        </p:nvSpPr>
        <p:spPr>
          <a:xfrm>
            <a:off x="3529584" y="5327174"/>
            <a:ext cx="5486400" cy="1024128"/>
          </a:xfrm>
          <a:prstGeom prst="roundRect">
            <a:avLst>
              <a:gd name="adj" fmla="val 10714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D9F1827-5646-D9C6-2E33-91C3A9E0951B}"/>
              </a:ext>
            </a:extLst>
          </p:cNvPr>
          <p:cNvSpPr/>
          <p:nvPr/>
        </p:nvSpPr>
        <p:spPr>
          <a:xfrm>
            <a:off x="3803904" y="5610638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BCC724D-A526-91AB-C36B-8BCDE5C2908E}"/>
              </a:ext>
            </a:extLst>
          </p:cNvPr>
          <p:cNvSpPr/>
          <p:nvPr/>
        </p:nvSpPr>
        <p:spPr>
          <a:xfrm>
            <a:off x="3803904" y="561063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2C0BE40-E0B2-255D-322C-42D6E98B7EE8}"/>
              </a:ext>
            </a:extLst>
          </p:cNvPr>
          <p:cNvSpPr/>
          <p:nvPr/>
        </p:nvSpPr>
        <p:spPr>
          <a:xfrm>
            <a:off x="4489704" y="5327174"/>
            <a:ext cx="4297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exist?</a:t>
            </a:r>
          </a:p>
        </p:txBody>
      </p:sp>
    </p:spTree>
    <p:extLst>
      <p:ext uri="{BB962C8B-B14F-4D97-AF65-F5344CB8AC3E}">
        <p14:creationId xmlns:p14="http://schemas.microsoft.com/office/powerpoint/2010/main" val="18022006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0118F-726A-BD6C-A1FA-A49C585E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AEE81D-EAD5-199F-8369-11F102E57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4CD53E32-D49B-F45C-404C-9989623366D9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0C6366D-0DE9-F5AF-8D68-59F5056F0693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5079B5E5-8EB0-A1F2-C93B-DBC21FECCB72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91E0456-F369-9103-6071-B92C91E70119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</a:t>
            </a:r>
            <a:endParaRPr lang="en-US" sz="3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3297D968-37C8-89CD-9C8D-8ABE460CD72C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22F120-FEB3-1B33-C74D-A4B948BFB42E}"/>
              </a:ext>
            </a:extLst>
          </p:cNvPr>
          <p:cNvSpPr txBox="1"/>
          <p:nvPr/>
        </p:nvSpPr>
        <p:spPr>
          <a:xfrm>
            <a:off x="548640" y="1966960"/>
            <a:ext cx="71831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volume: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delivery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capacity issue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staffing data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weather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transportation metrics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74571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2FD40-B1C8-A8F1-4B86-2128B122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6EBF13-9CD2-EA99-C23D-451571C8E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E1F6AF45-4782-74E1-D1EC-6CFB7568FAAA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C6D834E-1CDB-84CE-666C-67077B3FBE9E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8AA03BA8-7D7F-3748-056D-B96294AC6E2C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BAE53E0-7CEE-9EB3-C5CF-6833B3AFFD70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USPS Operational datasets  </a:t>
            </a:r>
            <a:endParaRPr lang="en-US" sz="3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583A4FE-079C-2E67-B523-E77A71B55770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D103D-317D-35FC-5A29-669AF14F7014}"/>
              </a:ext>
            </a:extLst>
          </p:cNvPr>
          <p:cNvSpPr txBox="1"/>
          <p:nvPr/>
        </p:nvSpPr>
        <p:spPr>
          <a:xfrm>
            <a:off x="548640" y="1966960"/>
            <a:ext cx="71831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Identify: 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trends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anomalies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unanswered question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hypothesis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postal operations data at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https://github.com/IsaacKGang/USPS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66754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43FDC-665A-F5A4-BDC3-D90194350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35ADD9-EA66-1FF8-BBF1-88A48687F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888C77E2-AE51-8FFB-226F-537FA7D5E7BE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A3CC4D7-4A4D-5EAE-DA7C-9D5068A4F810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72C273AD-CE50-E9C4-0AAB-343E545D7A4F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29D729F8-7948-236E-D3C0-0A3C9B59CEE8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  </a:t>
            </a:r>
            <a:endParaRPr lang="en-US" sz="3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5126312-C5EC-87E1-4254-D2EE92BA31E2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B6E491-2127-D07B-8388-683111E3A7F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608990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619582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25969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Crime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Ice Cream 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105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728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53323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F63052E-87B3-1F90-4DF9-D18D4B5AAE96}"/>
              </a:ext>
            </a:extLst>
          </p:cNvPr>
          <p:cNvSpPr txBox="1"/>
          <p:nvPr/>
        </p:nvSpPr>
        <p:spPr>
          <a:xfrm>
            <a:off x="838200" y="5098574"/>
            <a:ext cx="71831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ice cream cause crime?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</a:p>
          <a:p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increase because of summer weather.: </a:t>
            </a:r>
            <a:endParaRPr lang="en-US" sz="18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8842FDC-151A-6F08-F18C-B6C8CC845747}"/>
              </a:ext>
            </a:extLst>
          </p:cNvPr>
          <p:cNvSpPr/>
          <p:nvPr/>
        </p:nvSpPr>
        <p:spPr>
          <a:xfrm>
            <a:off x="694944" y="258775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Are Not Explanations 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6456060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7F9DF-2213-C2A6-DC54-2210A742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E12C40-D35C-B922-DCBF-94CE2E73E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FF5C3294-81D5-DED0-BB63-6ACC162B8C37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AE0D52F-F765-F5B1-3C19-BCA319C0D1B9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25231A94-262E-E981-3C6E-C76AB4062A56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15D5D95-C499-E1F2-15E5-6ADB4BB9E098}"/>
              </a:ext>
            </a:extLst>
          </p:cNvPr>
          <p:cNvSpPr/>
          <p:nvPr/>
        </p:nvSpPr>
        <p:spPr>
          <a:xfrm>
            <a:off x="548640" y="822960"/>
            <a:ext cx="9692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319B5-0DEE-D1A0-58BB-E15C054C1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596243"/>
            <a:ext cx="7772400" cy="166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26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573F1-613F-AD6A-59FF-68F60E0F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0329A6-7AD4-7157-2C91-99DF6C6E3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BDF80F6-04F3-1B21-3667-AC8CEFDCFEEA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C7F243E-8BBE-90EE-22A9-805DFC54C17A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6D08B886-2CE6-1330-AAFF-BFB802657415}"/>
              </a:ext>
            </a:extLst>
          </p:cNvPr>
          <p:cNvSpPr/>
          <p:nvPr/>
        </p:nvSpPr>
        <p:spPr>
          <a:xfrm>
            <a:off x="548640" y="822960"/>
            <a:ext cx="96926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A1683F3-B2D5-6459-5504-882E886E26A6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3B24267-94A0-26A1-ACB7-97CCF063A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" y="1594354"/>
            <a:ext cx="12070082" cy="548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384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58092-CED5-DFCC-43B8-CF4EA53D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B663BA-EED7-D893-3ACE-FD3188851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DB9C711E-9821-DB6E-1043-CAD360961716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A183E35-E983-4D44-E7EA-C3771665C03E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46F659F8-E121-BA94-97E3-E6EBD01659F0}"/>
              </a:ext>
            </a:extLst>
          </p:cNvPr>
          <p:cNvSpPr/>
          <p:nvPr/>
        </p:nvSpPr>
        <p:spPr>
          <a:xfrm>
            <a:off x="548640" y="822960"/>
            <a:ext cx="96926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284A5F8-1209-8677-667C-B75FE034E5CA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DC5411-1A73-C85B-6A8C-EACA7BCA25D3}"/>
              </a:ext>
            </a:extLst>
          </p:cNvPr>
          <p:cNvSpPr/>
          <p:nvPr/>
        </p:nvSpPr>
        <p:spPr>
          <a:xfrm>
            <a:off x="441960" y="7932419"/>
            <a:ext cx="10972800" cy="45719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8BE0819-2451-DB1F-AB53-5FF8CE393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2237"/>
            <a:ext cx="12192000" cy="516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109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708A8-09F1-61E2-BF99-7620FEF7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2EEF41-D0D0-8318-DCD3-AD4E8C7F2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389BEE8F-166A-65F0-5759-4643D36B2FCA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0DA67B5-C5E3-3BEA-33A3-FCE220EC729C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4AF3EE64-575D-CB80-FB3D-3C56A8E944B6}"/>
              </a:ext>
            </a:extLst>
          </p:cNvPr>
          <p:cNvSpPr/>
          <p:nvPr/>
        </p:nvSpPr>
        <p:spPr>
          <a:xfrm>
            <a:off x="548640" y="822960"/>
            <a:ext cx="96926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44E7EF6-CC57-AB28-6204-99D1B1A3001D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8BA49C-6B97-0EC4-40BB-47454055CA58}"/>
              </a:ext>
            </a:extLst>
          </p:cNvPr>
          <p:cNvSpPr/>
          <p:nvPr/>
        </p:nvSpPr>
        <p:spPr>
          <a:xfrm>
            <a:off x="441960" y="7932419"/>
            <a:ext cx="10972800" cy="45719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B9AC52C-8EA9-0242-8485-40D1F0BF7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68607"/>
            <a:ext cx="12192000" cy="512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067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5D815-1DEA-1132-9BA3-A19CDA933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7C922E-754B-4FB9-A8EF-F3A1A206B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A784955C-84B9-658E-C555-F3ABFCB14343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66C57AE-694B-B984-B772-62ED74E77BFF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92FA75F-C4F9-B3D6-1334-2506D0E8DE89}"/>
              </a:ext>
            </a:extLst>
          </p:cNvPr>
          <p:cNvSpPr/>
          <p:nvPr/>
        </p:nvSpPr>
        <p:spPr>
          <a:xfrm>
            <a:off x="548640" y="822960"/>
            <a:ext cx="96926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7294CC5-735F-F70A-9374-CAD663D9CB7A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A9E0CBA-6F9B-932B-F481-31286C194053}"/>
              </a:ext>
            </a:extLst>
          </p:cNvPr>
          <p:cNvSpPr/>
          <p:nvPr/>
        </p:nvSpPr>
        <p:spPr>
          <a:xfrm>
            <a:off x="441960" y="7932419"/>
            <a:ext cx="10972800" cy="45719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F86F8-A251-FB7B-3FE7-BAD0FAEC8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741932"/>
            <a:ext cx="12131040" cy="511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9863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CB9C9-0E70-7A88-8062-64B50466C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EDA89D3-C460-86D2-3043-E5CC1BF88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DF01025D-7641-EFF2-6976-EF1BED08F774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1FE586E-1516-8A16-66AA-013693030AB3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953EB2B8-EE02-3568-D73B-9369F34D702E}"/>
              </a:ext>
            </a:extLst>
          </p:cNvPr>
          <p:cNvSpPr/>
          <p:nvPr/>
        </p:nvSpPr>
        <p:spPr>
          <a:xfrm>
            <a:off x="548640" y="822960"/>
            <a:ext cx="96926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BB29BD6-4866-6D13-5127-9F0C5F4FD400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666FC1-CF94-C46E-1386-FBF24059CAA8}"/>
              </a:ext>
            </a:extLst>
          </p:cNvPr>
          <p:cNvSpPr/>
          <p:nvPr/>
        </p:nvSpPr>
        <p:spPr>
          <a:xfrm>
            <a:off x="441960" y="7932419"/>
            <a:ext cx="10972800" cy="45719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668C1-A74B-670E-E20A-64A22C69E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41932"/>
            <a:ext cx="12192000" cy="511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652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25CBA-576C-CB89-72C0-5F556706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48DBB2-326A-296C-11B1-A9985EAA4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350E8E8A-1B2F-4D92-EE14-7EF93AD10122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4AEB609-12D3-7C1A-5A45-0D189DFB70B8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93E6D5E4-4777-E8DD-6A08-F3ED66E229E4}"/>
              </a:ext>
            </a:extLst>
          </p:cNvPr>
          <p:cNvSpPr/>
          <p:nvPr/>
        </p:nvSpPr>
        <p:spPr>
          <a:xfrm>
            <a:off x="548640" y="822960"/>
            <a:ext cx="96926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F338120-9034-8022-A194-6D92C336D4B1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C34B1C-1F42-3306-1DA2-FA5E5105D0FC}"/>
              </a:ext>
            </a:extLst>
          </p:cNvPr>
          <p:cNvSpPr/>
          <p:nvPr/>
        </p:nvSpPr>
        <p:spPr>
          <a:xfrm>
            <a:off x="441960" y="7932419"/>
            <a:ext cx="10972800" cy="45719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410F2F-5260-ECC3-0EBE-A3EE352D7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91208"/>
            <a:ext cx="12192000" cy="506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719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08D3F-0D3F-3BBB-0FC9-052D53C3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620070-BB8C-7CF3-2B60-6E76D0C06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F73689C9-CF0D-6C92-E33E-5C07C07633BB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A9C6346-54BB-DB8B-AD47-B962EFB0A7FA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0FE95041-2613-EBAB-E2AB-BD3543A44293}"/>
              </a:ext>
            </a:extLst>
          </p:cNvPr>
          <p:cNvSpPr/>
          <p:nvPr/>
        </p:nvSpPr>
        <p:spPr>
          <a:xfrm>
            <a:off x="548640" y="822960"/>
            <a:ext cx="96926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7E5FDA3F-D137-E39C-EF49-C16F852BC875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9D3FD2-8EE9-C850-ABAE-9F4EABD004E9}"/>
              </a:ext>
            </a:extLst>
          </p:cNvPr>
          <p:cNvSpPr/>
          <p:nvPr/>
        </p:nvSpPr>
        <p:spPr>
          <a:xfrm>
            <a:off x="441960" y="7932419"/>
            <a:ext cx="10972800" cy="45719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9DBCD-6F21-E36B-4A27-9F89887AC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26250"/>
            <a:ext cx="12192000" cy="513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758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A7132-D4C6-9704-C389-DD9DFC08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E5219F-624F-AFEC-1064-C60ECA4D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669AE54-8ECD-8D38-12C9-ED74C516CDAB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05ADF8F-8D90-6FCA-AD63-7B4D809FFC59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15A4241-F630-4BD9-DC4A-598E3B96B38A}"/>
              </a:ext>
            </a:extLst>
          </p:cNvPr>
          <p:cNvSpPr/>
          <p:nvPr/>
        </p:nvSpPr>
        <p:spPr>
          <a:xfrm>
            <a:off x="548640" y="822960"/>
            <a:ext cx="96926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B42BB99-C58E-878E-DAD5-21FD221B3F43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E2CC89-0341-B20B-3AB9-D8DE5597C802}"/>
              </a:ext>
            </a:extLst>
          </p:cNvPr>
          <p:cNvSpPr/>
          <p:nvPr/>
        </p:nvSpPr>
        <p:spPr>
          <a:xfrm>
            <a:off x="441960" y="7932419"/>
            <a:ext cx="10972800" cy="45719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D1D18-4113-9407-EACA-5BA87D0E6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736895"/>
            <a:ext cx="12131040" cy="515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506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46E3A-5594-9C3A-3D84-35C155FE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97C12C-1450-90C6-E8AC-9E854E9D9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FCFE66D3-458F-E52B-14EA-8E9984BE6FC9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5EDC7BE-584E-DF31-6112-78955F2436CA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D6A2EFCD-16A3-F2E2-8357-12FA50B96221}"/>
              </a:ext>
            </a:extLst>
          </p:cNvPr>
          <p:cNvSpPr/>
          <p:nvPr/>
        </p:nvSpPr>
        <p:spPr>
          <a:xfrm>
            <a:off x="548640" y="822960"/>
            <a:ext cx="96926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93C37FC-79BA-2EB1-6CCD-FE3A86298BA9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D0C9E1-CB2F-8ABF-6E96-4C27FFFD7BE5}"/>
              </a:ext>
            </a:extLst>
          </p:cNvPr>
          <p:cNvSpPr/>
          <p:nvPr/>
        </p:nvSpPr>
        <p:spPr>
          <a:xfrm>
            <a:off x="441960" y="7932419"/>
            <a:ext cx="10972800" cy="45719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41C1A8-7833-6315-1A43-0198A574C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737557"/>
            <a:ext cx="12131040" cy="512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832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F0E9A-A457-C187-A8A2-950D0B76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104B10-EEBB-2EEA-B35B-6DFA077B8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96164"/>
            <a:ext cx="1889761" cy="10160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59AE7D5E-7E42-6D18-DC04-A5AC5A9B1C85}"/>
              </a:ext>
            </a:extLst>
          </p:cNvPr>
          <p:cNvSpPr/>
          <p:nvPr/>
        </p:nvSpPr>
        <p:spPr>
          <a:xfrm>
            <a:off x="566928" y="576072"/>
            <a:ext cx="128016" cy="128016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67BE89F-BA0B-F413-8C93-3C3B2503123F}"/>
              </a:ext>
            </a:extLst>
          </p:cNvPr>
          <p:cNvSpPr/>
          <p:nvPr/>
        </p:nvSpPr>
        <p:spPr>
          <a:xfrm>
            <a:off x="786384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B2E79616-30D0-03B2-0001-F21822128EDD}"/>
              </a:ext>
            </a:extLst>
          </p:cNvPr>
          <p:cNvSpPr/>
          <p:nvPr/>
        </p:nvSpPr>
        <p:spPr>
          <a:xfrm>
            <a:off x="548640" y="822960"/>
            <a:ext cx="96926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Project Use case: USPS OIG 2026 Project Stochastic Inflation 6/19/2026:</a:t>
            </a:r>
          </a:p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Stories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0CBA6A1-1B89-6F8D-87A9-D4596F0346DD}"/>
              </a:ext>
            </a:extLst>
          </p:cNvPr>
          <p:cNvSpPr/>
          <p:nvPr/>
        </p:nvSpPr>
        <p:spPr>
          <a:xfrm>
            <a:off x="4581144" y="5098574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B046D9-3CDA-F0FE-0BB7-735296FD7418}"/>
              </a:ext>
            </a:extLst>
          </p:cNvPr>
          <p:cNvSpPr/>
          <p:nvPr/>
        </p:nvSpPr>
        <p:spPr>
          <a:xfrm>
            <a:off x="441960" y="7932419"/>
            <a:ext cx="10972800" cy="45719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F8D041-E522-70BF-D558-40773D146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740562"/>
            <a:ext cx="12131040" cy="515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258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005840"/>
            <a:ext cx="5547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0" b="1" dirty="0">
                <a:solidFill>
                  <a:srgbClr val="2E2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0" dirty="0"/>
          </a:p>
        </p:txBody>
      </p:sp>
      <p:sp>
        <p:nvSpPr>
          <p:cNvPr id="4" name="Shape 1"/>
          <p:cNvSpPr/>
          <p:nvPr/>
        </p:nvSpPr>
        <p:spPr>
          <a:xfrm>
            <a:off x="868680" y="4434840"/>
            <a:ext cx="164592" cy="164592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33856" y="4315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3A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Writing for Impact: Structure, Audience, and Clarity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73A40A-B2DD-B2CC-1C60-F0C5F590D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A1ECF-8B9B-254E-7A25-C214261F9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C9FAA3-00CF-1EF7-1CB3-D7F64BD39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8E46FFBD-68D9-05E6-DEF3-FBFE62DA701B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9CC12ED0-CC5F-7618-A253-4C8DEFF5178D}"/>
              </a:ext>
            </a:extLst>
          </p:cNvPr>
          <p:cNvSpPr/>
          <p:nvPr/>
        </p:nvSpPr>
        <p:spPr>
          <a:xfrm>
            <a:off x="548640" y="17830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9256AF2-FCB4-EF55-FEC4-5288522CC3C3}"/>
              </a:ext>
            </a:extLst>
          </p:cNvPr>
          <p:cNvSpPr/>
          <p:nvPr/>
        </p:nvSpPr>
        <p:spPr>
          <a:xfrm>
            <a:off x="868680" y="1828800"/>
            <a:ext cx="506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participants will be able to:</a:t>
            </a:r>
          </a:p>
          <a:p>
            <a:pPr>
              <a:lnSpc>
                <a:spcPct val="125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concise executive summaries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Technical jargons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findings logically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communications to executive 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Develop actionable recommendations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383155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84EB7-8DAA-E481-EDC6-68E9B63A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0E53E9-0B38-939A-9CF7-338661283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68A2793E-2F7C-123E-D951-26A15ACB0734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Principles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F6DDEDA4-5F39-375E-E4E6-8C81333C5E00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310E11E-2768-D162-0898-C6B07F605C37}"/>
              </a:ext>
            </a:extLst>
          </p:cNvPr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7B35E4-3984-7B70-5327-08C53E2901CF}"/>
              </a:ext>
            </a:extLst>
          </p:cNvPr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9FA9C8A-11E8-A4C0-850F-A6053C680C49}"/>
              </a:ext>
            </a:extLst>
          </p:cNvPr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189CAAF-3518-82D9-B27D-C66D4AF43B5B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do not read analyses.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read conclusions.</a:t>
            </a:r>
            <a:endParaRPr lang="en-US" sz="17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F22C7A8B-A69B-4C08-9EB7-2A20B3B80930}"/>
              </a:ext>
            </a:extLst>
          </p:cNvPr>
          <p:cNvSpPr/>
          <p:nvPr/>
        </p:nvSpPr>
        <p:spPr>
          <a:xfrm>
            <a:off x="548640" y="32918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C220C41-664D-8766-4AA9-881A56E2EBCF}"/>
              </a:ext>
            </a:extLst>
          </p:cNvPr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1F4A38B-4F40-3B47-5FB2-D3A26DF63F98}"/>
              </a:ext>
            </a:extLst>
          </p:cNvPr>
          <p:cNvSpPr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9F44EA1-28DE-6472-C955-82F23B6CF907}"/>
              </a:ext>
            </a:extLst>
          </p:cNvPr>
          <p:cNvSpPr/>
          <p:nvPr/>
        </p:nvSpPr>
        <p:spPr>
          <a:xfrm>
            <a:off x="1600200" y="329184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Principle: 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answer.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provide evidence.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other way around.</a:t>
            </a:r>
          </a:p>
          <a:p>
            <a:pPr>
              <a:lnSpc>
                <a:spcPct val="120000"/>
              </a:lnSpc>
            </a:pPr>
            <a:endParaRPr lang="en-US" sz="17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FD5BAA03-4EF5-FCED-1E2B-96544D585A09}"/>
              </a:ext>
            </a:extLst>
          </p:cNvPr>
          <p:cNvSpPr/>
          <p:nvPr/>
        </p:nvSpPr>
        <p:spPr>
          <a:xfrm>
            <a:off x="548640" y="4846320"/>
            <a:ext cx="11064240" cy="158496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AC80B4CE-DE21-DE06-5830-FE30D3671A83}"/>
              </a:ext>
            </a:extLst>
          </p:cNvPr>
          <p:cNvSpPr/>
          <p:nvPr/>
        </p:nvSpPr>
        <p:spPr>
          <a:xfrm>
            <a:off x="868680" y="5303520"/>
            <a:ext cx="457200" cy="4572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9B5E0913-B2BE-627A-B3F0-29C14B385F06}"/>
              </a:ext>
            </a:extLst>
          </p:cNvPr>
          <p:cNvSpPr/>
          <p:nvPr/>
        </p:nvSpPr>
        <p:spPr>
          <a:xfrm>
            <a:off x="86868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512B916-49A7-CFBF-E1DB-EB6D0C7E4FD3}"/>
              </a:ext>
            </a:extLst>
          </p:cNvPr>
          <p:cNvSpPr/>
          <p:nvPr/>
        </p:nvSpPr>
        <p:spPr>
          <a:xfrm>
            <a:off x="1600200" y="484632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Example: 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Weak -&gt;After reviewing 15 datasets...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Strong -&gt;Package delays increased because staffing shortages reduced processing capacity by 12%.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7679421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8FE25-E1D3-418C-D4BD-8E7E14FB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D6ADE1-86A0-3DB3-8706-6FA80E8D3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942CF60A-1ADE-1321-FC57-8B5F3490FEFD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Writing Structure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2F3572AE-1C26-E4C7-9C88-1200C7D7A181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43F49AD-EA94-28BE-F595-7D2A0584B466}"/>
              </a:ext>
            </a:extLst>
          </p:cNvPr>
          <p:cNvSpPr/>
          <p:nvPr/>
        </p:nvSpPr>
        <p:spPr>
          <a:xfrm>
            <a:off x="548640" y="1737360"/>
            <a:ext cx="11064240" cy="41351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02077C7-E6AF-BB7A-E12C-4112D6C584D0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3809606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A58C0-350A-BBB4-4B53-8DD0FBFFB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94F625-5603-76B3-293A-65C7E1BDB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0FD241D2-F9C0-4E21-0771-FD286BA2EF94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Before and After Exercise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7A1B9DBD-0154-795D-01E9-0CA171B7C9ED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E070DB2-3431-6AD8-4D36-855203BAA6E7}"/>
              </a:ext>
            </a:extLst>
          </p:cNvPr>
          <p:cNvSpPr/>
          <p:nvPr/>
        </p:nvSpPr>
        <p:spPr>
          <a:xfrm>
            <a:off x="548640" y="1991360"/>
            <a:ext cx="11064240" cy="41351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57284FE-B6BF-3A0A-49D4-4D518145A146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dataset shows multiple changes over several months."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"Package delays increased 15% after staffing levels dropped below operational thresholds in three processing centers."</a:t>
            </a:r>
          </a:p>
        </p:txBody>
      </p:sp>
    </p:spTree>
    <p:extLst>
      <p:ext uri="{BB962C8B-B14F-4D97-AF65-F5344CB8AC3E}">
        <p14:creationId xmlns:p14="http://schemas.microsoft.com/office/powerpoint/2010/main" val="21940429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283A7-B9FF-CA7D-29DD-F73DE256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F6D23F-0451-70F3-CB3A-6E6631E3C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9F03EE89-CEFA-B1FA-D5F8-A5A95E5A52C4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Plain Language Challenge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9167355E-AD3E-9CE9-89F7-18008DBB0431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9B11247-3D64-2FB4-4569-90807E92DCDB}"/>
              </a:ext>
            </a:extLst>
          </p:cNvPr>
          <p:cNvSpPr/>
          <p:nvPr/>
        </p:nvSpPr>
        <p:spPr>
          <a:xfrm>
            <a:off x="548640" y="1991360"/>
            <a:ext cx="11064240" cy="41351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7D4B824-3CF0-E88D-0486-8BAB386EC0C2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Convert: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multivariate analysis indicates statistically significant variation."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"Several operational factors consistently contributed to delivery delays."</a:t>
            </a:r>
          </a:p>
        </p:txBody>
      </p:sp>
    </p:spTree>
    <p:extLst>
      <p:ext uri="{BB962C8B-B14F-4D97-AF65-F5344CB8AC3E}">
        <p14:creationId xmlns:p14="http://schemas.microsoft.com/office/powerpoint/2010/main" val="27691112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1CA41-8CAF-1499-138E-79540B29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D14BA4-402B-1101-E95F-74FC2BB19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5D97CDFF-1D90-6E8B-4EF5-1A847EC23E88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Group Exercise: </a:t>
            </a: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an existing USPS report.</a:t>
            </a: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628FBD73-8A79-27A7-E768-2D4FDA41072F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1242DD-14FF-DF23-09F4-6448B1270AEB}"/>
              </a:ext>
            </a:extLst>
          </p:cNvPr>
          <p:cNvSpPr/>
          <p:nvPr/>
        </p:nvSpPr>
        <p:spPr>
          <a:xfrm>
            <a:off x="548640" y="1991360"/>
            <a:ext cx="11064240" cy="41351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B2DF3F8-C95C-EBEF-C19E-82C3FAA205D8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persuasive</a:t>
            </a:r>
          </a:p>
        </p:txBody>
      </p:sp>
    </p:spTree>
    <p:extLst>
      <p:ext uri="{BB962C8B-B14F-4D97-AF65-F5344CB8AC3E}">
        <p14:creationId xmlns:p14="http://schemas.microsoft.com/office/powerpoint/2010/main" val="8862470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005840"/>
            <a:ext cx="5547360" cy="2924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0" b="1" dirty="0">
                <a:solidFill>
                  <a:srgbClr val="2E2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0" dirty="0"/>
          </a:p>
        </p:txBody>
      </p:sp>
      <p:sp>
        <p:nvSpPr>
          <p:cNvPr id="4" name="Shape 1"/>
          <p:cNvSpPr/>
          <p:nvPr/>
        </p:nvSpPr>
        <p:spPr>
          <a:xfrm>
            <a:off x="868680" y="4434840"/>
            <a:ext cx="164592" cy="164592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33856" y="4315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3A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Strategic Visualization and Dashboard-Driven Storytelling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E10311-3F51-DB86-3BF6-4B0D13EF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4B31C-D201-F9FC-D0B5-AFACD0ED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3BF96E-C21D-F477-CB7D-1D6F6B6F0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4ADF0CAD-3CED-E52C-89E8-7EC23FC4F1C3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E2F2C78C-BACC-3445-A80F-B463F72A0A25}"/>
              </a:ext>
            </a:extLst>
          </p:cNvPr>
          <p:cNvSpPr/>
          <p:nvPr/>
        </p:nvSpPr>
        <p:spPr>
          <a:xfrm>
            <a:off x="548640" y="17830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35E1B6C-30C6-5671-6319-55F36C4B2A42}"/>
              </a:ext>
            </a:extLst>
          </p:cNvPr>
          <p:cNvSpPr/>
          <p:nvPr/>
        </p:nvSpPr>
        <p:spPr>
          <a:xfrm>
            <a:off x="868680" y="1828800"/>
            <a:ext cx="506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participants will be able to:</a:t>
            </a:r>
          </a:p>
          <a:p>
            <a:pPr>
              <a:lnSpc>
                <a:spcPct val="125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appropriate charts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00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misleading graphics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audience attention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dashboard strategically 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Tell stories visually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969221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2968B-9610-4347-AB28-3D4260CA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2550BB-66A4-08BB-9DE4-F45024284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D3E3B389-C6CD-1C2D-F17C-520D07A04EE2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Core Principle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221D9CC5-D844-23B9-1487-43BCA7AE7A76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69E6ECEF-FB53-3B9D-EECF-E6AA5178F0A8}"/>
              </a:ext>
            </a:extLst>
          </p:cNvPr>
          <p:cNvSpPr/>
          <p:nvPr/>
        </p:nvSpPr>
        <p:spPr>
          <a:xfrm>
            <a:off x="548640" y="1737360"/>
            <a:ext cx="11064240" cy="41351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134F8A51-B57A-5F74-E68B-7AA6CD73C238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must answer one question.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Dashboard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charts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colors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text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hierarchy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conclusions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4591813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20158-889E-9465-EAF8-50C319591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20349B-C7FB-70B8-4058-1009804C5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F1E4BF30-D03E-BE63-A893-CB630BAFE5F5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Core Principle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F1D9A2C4-0DD9-180A-5163-D7486D1A0887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AF70C36-BCCA-6D57-7327-826B3A31ABE2}"/>
              </a:ext>
            </a:extLst>
          </p:cNvPr>
          <p:cNvSpPr/>
          <p:nvPr/>
        </p:nvSpPr>
        <p:spPr>
          <a:xfrm>
            <a:off x="548640" y="1737360"/>
            <a:ext cx="11064240" cy="41351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28BE153-6561-D7E8-6AF0-2AB364C5F87E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Dashboard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questions: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 is needed?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6508580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187DD-2139-6D84-812A-5CF5B29C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2BF4CD-4B2E-C145-9C1A-DCF7D2E38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CC3F84A8-3E21-80C4-CFDE-A3C3A9C1D088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Chart Selection Guide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55B01DDF-F6B6-D874-E79B-65DC5C6ED5E9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C9E1BB4-6295-36C7-0286-B11FABE13D93}"/>
              </a:ext>
            </a:extLst>
          </p:cNvPr>
          <p:cNvSpPr/>
          <p:nvPr/>
        </p:nvSpPr>
        <p:spPr>
          <a:xfrm>
            <a:off x="548640" y="1737360"/>
            <a:ext cx="11064240" cy="41351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7570A4F-46F9-A81B-6D17-E5719F204D61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</a:p>
          <a:p>
            <a:pPr>
              <a:lnSpc>
                <a:spcPct val="12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4097549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B1C15-D1CA-F8D6-31E6-0B444CB1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02A4AB-5D42-9F62-AD54-AB7CF6620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6A31597D-1888-85DA-1495-0B7EA2E2D335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Example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0525A059-554F-908B-639D-9DE656C663B4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9F42BC9-C649-C8F8-72A4-1F0DE4C7E8AE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14210-051E-3F21-F78F-989575210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143000"/>
            <a:ext cx="22479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9872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1BD98-97B8-9F85-00E1-723014EDE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2171C1-9CF2-D7C0-D315-146F224C3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42A09D99-B9C1-D229-904C-11129DC31472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49A1DF-4B59-8A32-C8B0-B0B6685D7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016000"/>
            <a:ext cx="12131040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759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D5F60-952C-0FCA-7C13-32BB3FAE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5200EE-52BA-10F5-A8B1-10FE0D729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C77497FB-2DA0-EBC3-5D36-7D6970D5B6DB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56101-680B-D415-3BFE-E2096F3EB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1999" cy="602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390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CB98D-84E3-BD7D-7B82-05A14F66A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589CFE-1220-8ACD-9AE2-9F92392D8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B004DF09-676E-2E26-EF4F-26160FBA3289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9A58E7-10D0-D225-823B-315C19B21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4560"/>
            <a:ext cx="12192000" cy="593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942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C0C2C-9714-E93F-CFB4-70D499AC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598926-33EE-679B-7B9E-5B6536B9A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8504AB76-612D-EF97-D13D-68B7B988F78A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EA27F-C721-9177-0262-BACF34739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4240"/>
            <a:ext cx="12192000" cy="595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032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9A572-F42F-3226-C900-204B4FB7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9C1C7D-90FA-4236-18BD-46CF00BE6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E6EFB99F-D6B9-6455-E624-F3C7B5379E95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DE5480-2E31-1D35-30C8-0347782AA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4240"/>
            <a:ext cx="12192000" cy="595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8404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24BAD-BBA1-1972-8D5D-351CE2CF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8A9F7C-68A3-4C79-2B62-476A4E5CE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EEEE9AC4-A5F4-134F-274D-5975D0022276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D571B-278C-090B-F2D5-87FFAA45C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4240"/>
            <a:ext cx="12192000" cy="595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935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2E1158-F913-5395-CFB5-D4E50F75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572CEB-C562-4F62-BC69-AF65105D2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40B82D1A-E378-875D-03AC-45AA2AD083E0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F6D4C-7A1D-6A4F-6BBE-A3A625253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17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41F48-B61E-CB17-3AF0-51EFD9C0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6F0841-9B54-99E3-81E0-31CCB089A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78D15DE3-2E38-3FA5-1530-45444B10650E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C8916A-A0FB-464D-9D37-123A22948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4560"/>
            <a:ext cx="12192000" cy="59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5441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CE3B0-D922-F3DF-BA9B-186EB3677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52B120-160F-39A3-A052-FFAC7A881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87181449-E44B-6605-3FB1-09DC256672B8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55530D-D3BB-3742-428A-4E71DAA05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011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E757E-9F7C-73B2-1252-52FE1A30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0388DA-6AFC-BD87-EF3F-1B8B5B4A6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71999011-46FE-7E5D-FD5E-285310AF0AB3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521FBE-8FC5-9A24-8281-B56BBDDCF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4240"/>
            <a:ext cx="12192000" cy="595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12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C5752-3897-4C88-5B5C-79FAD7F0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12CE85-BEDC-A5FE-B753-5210219E8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18D35290-8B41-BA0F-DAC5-BB95D65176D1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C56707-FC88-1A6C-1669-102A128C4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4720"/>
            <a:ext cx="12192000" cy="584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425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2D1C7-9D16-FED0-A7FD-11F53CAB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82DA83-FF50-1B98-AE97-FBCB32A9B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E8BB027F-D993-A5F5-273B-2E576827789D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7A3F34-9328-B5A5-65FE-EE04351BE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6000"/>
            <a:ext cx="12192000" cy="591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3044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C3EB9-963C-39FA-C6A0-DAB3F9892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12F79A-32DC-4A43-45B9-93323D5AB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488A48F8-C424-B7EB-596F-0D66F9642676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Financial History of the U.S. Postal Service</a:t>
            </a:r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B65636-6899-33D8-6904-06A2CB3FF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1209"/>
            <a:ext cx="12192000" cy="560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111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8B576-B2F1-A772-2AF2-475F329D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BA2CB4-1B77-CD21-86B4-F24C46CE4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60666FD0-AB24-FF0D-E4B5-F0704D83EE83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Visualization Exercise</a:t>
            </a:r>
            <a:endParaRPr lang="en-US" sz="300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FAC4EC3C-25DE-3A1E-3AA0-F9CA25643AC7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617EE6C-DB7B-1547-493D-D490F37AAD37}"/>
              </a:ext>
            </a:extLst>
          </p:cNvPr>
          <p:cNvSpPr/>
          <p:nvPr/>
        </p:nvSpPr>
        <p:spPr>
          <a:xfrm>
            <a:off x="548640" y="924560"/>
            <a:ext cx="11064240" cy="52019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CACAD53-A770-A0A5-882D-2E6985FE8236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one dataset,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dashboard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manager dashboard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why each differs.</a:t>
            </a:r>
          </a:p>
        </p:txBody>
      </p:sp>
    </p:spTree>
    <p:extLst>
      <p:ext uri="{BB962C8B-B14F-4D97-AF65-F5344CB8AC3E}">
        <p14:creationId xmlns:p14="http://schemas.microsoft.com/office/powerpoint/2010/main" val="1518519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CB47B-2775-1CE3-83F1-A446F4B4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CD46D3-0C8A-C3B1-A59A-595B43B27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D4E82E4B-8A5B-037A-823B-B648CFA2E012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Visual Storytelling Formula</a:t>
            </a:r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D5BD0758-82A5-D45D-0BE9-7095B811D558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25E2CE0-32A9-0D33-46C6-0C32D7D1FF2F}"/>
              </a:ext>
            </a:extLst>
          </p:cNvPr>
          <p:cNvSpPr/>
          <p:nvPr/>
        </p:nvSpPr>
        <p:spPr>
          <a:xfrm>
            <a:off x="548640" y="924560"/>
            <a:ext cx="11064240" cy="52019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F98740-A92A-C293-31BB-04FBA29FC904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28F41-8B6F-2EE7-35DD-758E8936E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1524000"/>
            <a:ext cx="20193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0217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0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005840"/>
            <a:ext cx="5199017" cy="2950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0" b="1" dirty="0">
                <a:solidFill>
                  <a:srgbClr val="2E2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0" dirty="0"/>
          </a:p>
        </p:txBody>
      </p:sp>
      <p:sp>
        <p:nvSpPr>
          <p:cNvPr id="4" name="Shape 1"/>
          <p:cNvSpPr/>
          <p:nvPr/>
        </p:nvSpPr>
        <p:spPr>
          <a:xfrm>
            <a:off x="868680" y="4434840"/>
            <a:ext cx="164592" cy="164592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33856" y="4315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3A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OIG Whitepaper Clinic &amp; Workshop Wrap-Up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677F1-9C0E-7D40-A2E4-FE606F062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983F2-190D-9C9B-D513-B721A32F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AB9F59-321D-B840-5C35-80E43D6CA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802717C3-A7B7-9148-A9E2-5A65629D7A10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143C16F-B90E-6D0A-66CE-16368849B3AE}"/>
              </a:ext>
            </a:extLst>
          </p:cNvPr>
          <p:cNvSpPr/>
          <p:nvPr/>
        </p:nvSpPr>
        <p:spPr>
          <a:xfrm>
            <a:off x="548640" y="17830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DD614C-5E18-61F5-EC50-1586B11F8295}"/>
              </a:ext>
            </a:extLst>
          </p:cNvPr>
          <p:cNvSpPr/>
          <p:nvPr/>
        </p:nvSpPr>
        <p:spPr>
          <a:xfrm>
            <a:off x="868680" y="1828800"/>
            <a:ext cx="5064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participants will be able to:</a:t>
            </a:r>
          </a:p>
          <a:p>
            <a:pPr>
              <a:lnSpc>
                <a:spcPct val="125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complete workflow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analytical narratives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executive recommendations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professionally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ü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peer feedback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9814212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BEFC1-240E-E5C6-19A0-A17785A4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BF0424-7E15-4A87-3F47-13C2C1569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33127D6C-0E26-96A6-5405-3E947C6D87D9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Activity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4B97B638-C302-2D14-5DC5-C448DAC67CE3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B6256B7-AD3C-4879-A998-F8E7FE05EE30}"/>
              </a:ext>
            </a:extLst>
          </p:cNvPr>
          <p:cNvSpPr/>
          <p:nvPr/>
        </p:nvSpPr>
        <p:spPr>
          <a:xfrm>
            <a:off x="548640" y="1737360"/>
            <a:ext cx="11064240" cy="413512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36BBE76-E160-98BE-3A39-7082CE509CC1}"/>
              </a:ext>
            </a:extLst>
          </p:cNvPr>
          <p:cNvSpPr/>
          <p:nvPr/>
        </p:nvSpPr>
        <p:spPr>
          <a:xfrm>
            <a:off x="160020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small teams.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receives USPS OIG dashboard sections.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recommendations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visuals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54005845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86078-66BC-316D-E751-B5E6678D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426031-56B7-ACD6-21CF-AD0891A59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80FA1FBC-DD60-9F2C-D757-3A02D2A8C2EE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White Paper Template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E8A381F7-D6EF-94F3-620A-AD8F41933C8B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6018B5BC-2CF1-0578-3845-F8759D10F930}"/>
              </a:ext>
            </a:extLst>
          </p:cNvPr>
          <p:cNvSpPr/>
          <p:nvPr/>
        </p:nvSpPr>
        <p:spPr>
          <a:xfrm>
            <a:off x="548640" y="1737360"/>
            <a:ext cx="11064240" cy="49072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B6176A8-5469-BC2C-AB66-67B89D0AA476}"/>
              </a:ext>
            </a:extLst>
          </p:cNvPr>
          <p:cNvSpPr/>
          <p:nvPr/>
        </p:nvSpPr>
        <p:spPr>
          <a:xfrm>
            <a:off x="1600200" y="1737360"/>
            <a:ext cx="9784080" cy="490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paragraphs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evidence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</a:p>
        </p:txBody>
      </p:sp>
    </p:spTree>
    <p:extLst>
      <p:ext uri="{BB962C8B-B14F-4D97-AF65-F5344CB8AC3E}">
        <p14:creationId xmlns:p14="http://schemas.microsoft.com/office/powerpoint/2010/main" val="11894723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89D4A-C2A2-762A-D923-BD6FEDC6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88584F-21D3-2C6D-4413-5D42B537E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C210F48B-5807-DE4C-D62C-54010B0E18C4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Team Presentations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57B8973F-C8F6-FFBD-AEB7-B144A5BFE9C5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FF93258-1441-879F-DD2E-5A6FDB549F05}"/>
              </a:ext>
            </a:extLst>
          </p:cNvPr>
          <p:cNvSpPr/>
          <p:nvPr/>
        </p:nvSpPr>
        <p:spPr>
          <a:xfrm>
            <a:off x="548640" y="1737360"/>
            <a:ext cx="11064240" cy="49072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7EAE727F-CE4D-0F0E-9CDF-4A47017387C3}"/>
              </a:ext>
            </a:extLst>
          </p:cNvPr>
          <p:cNvSpPr/>
          <p:nvPr/>
        </p:nvSpPr>
        <p:spPr>
          <a:xfrm>
            <a:off x="1600200" y="1737360"/>
            <a:ext cx="9784080" cy="490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9997023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09DE4-966D-281C-236F-8216233C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A21CF6-7D6F-BB89-8BBA-B9B19D38B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81B0BBF9-2970-B857-6359-B979A53C8FE7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Peer evaluation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1736BC5F-ACE7-D136-BFBB-E111CC92AC9A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94D6DC53-B81C-9B2A-1809-BD1B63D480F8}"/>
              </a:ext>
            </a:extLst>
          </p:cNvPr>
          <p:cNvSpPr/>
          <p:nvPr/>
        </p:nvSpPr>
        <p:spPr>
          <a:xfrm>
            <a:off x="548640" y="1737360"/>
            <a:ext cx="11064240" cy="49072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285BD07-C482-4361-D8A5-72219158DFC5}"/>
              </a:ext>
            </a:extLst>
          </p:cNvPr>
          <p:cNvSpPr/>
          <p:nvPr/>
        </p:nvSpPr>
        <p:spPr>
          <a:xfrm>
            <a:off x="1600200" y="1737360"/>
            <a:ext cx="9784080" cy="490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Persuasiveness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readiness</a:t>
            </a:r>
          </a:p>
        </p:txBody>
      </p:sp>
    </p:spTree>
    <p:extLst>
      <p:ext uri="{BB962C8B-B14F-4D97-AF65-F5344CB8AC3E}">
        <p14:creationId xmlns:p14="http://schemas.microsoft.com/office/powerpoint/2010/main" val="11392224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C88A6-9F4D-5EBF-498C-6CCB536F4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F55A04-1E30-0D0F-EF13-047C5D8D9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F6293842-69B6-7D89-661B-ED734D26B5E5}"/>
              </a:ext>
            </a:extLst>
          </p:cNvPr>
          <p:cNvSpPr/>
          <p:nvPr/>
        </p:nvSpPr>
        <p:spPr>
          <a:xfrm>
            <a:off x="548640" y="822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Final Workshop Capstone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50AD3A83-287D-0CDD-05EA-B0595162281B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4E386AF-586A-D49B-AFEA-924A46C8D5F7}"/>
              </a:ext>
            </a:extLst>
          </p:cNvPr>
          <p:cNvSpPr/>
          <p:nvPr/>
        </p:nvSpPr>
        <p:spPr>
          <a:xfrm>
            <a:off x="548640" y="1737360"/>
            <a:ext cx="11064240" cy="4907280"/>
          </a:xfrm>
          <a:prstGeom prst="roundRect">
            <a:avLst>
              <a:gd name="adj" fmla="val 8000"/>
            </a:avLst>
          </a:prstGeom>
          <a:solidFill>
            <a:srgbClr val="1F1F4C"/>
          </a:solidFill>
          <a:ln w="12700">
            <a:solidFill>
              <a:srgbClr val="34346A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77C46C13-919E-A704-8622-97240CF188BC}"/>
              </a:ext>
            </a:extLst>
          </p:cNvPr>
          <p:cNvSpPr/>
          <p:nvPr/>
        </p:nvSpPr>
        <p:spPr>
          <a:xfrm>
            <a:off x="1600200" y="1737360"/>
            <a:ext cx="9784080" cy="490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produces a professional analytical briefing that includes: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clearly defined business problem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with supporting evidence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patterns, anomalies, and possible root causes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executive summary written in plain language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or set of visuals that support—not distract from—the narrative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actionable recommendations tied directly to the analysis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five-minute executive presentation that communicates findings and expected organizational impact</a:t>
            </a:r>
          </a:p>
        </p:txBody>
      </p:sp>
    </p:spTree>
    <p:extLst>
      <p:ext uri="{BB962C8B-B14F-4D97-AF65-F5344CB8AC3E}">
        <p14:creationId xmlns:p14="http://schemas.microsoft.com/office/powerpoint/2010/main" val="374597685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23F25-1B8E-BF3A-DAFC-57B6D290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4272A7-3D4E-B560-A8FB-03C06E7CD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062096C5-5094-A03D-BC64-98A5B2D9E962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BF2EEFB2-181A-3863-3EBC-6E5AE757E1DD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20CB5-44B3-B861-9841-882D402F7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9610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0FA8F-748B-63C5-CB3D-B02018DBF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09C1-CC4A-2679-A8B4-6CD1F67A1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83699056-98CB-0EAE-DA05-D9DDAE463982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E7448B71-9447-AE5F-A231-DBCD8F8C290A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48730E-DE7D-78FF-3DA4-149D60FEE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4720"/>
            <a:ext cx="12192000" cy="59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3436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41651-CC03-DD03-E477-1CC74E6B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F14CE2-F085-6FFE-D3DD-E1C1D0D83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D6EC6DDC-CC77-22D8-2748-35147D4C9994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EBA1CB82-888E-0E86-B625-31ABAD39793A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FC85A-5A3D-0308-D4D0-26BF739CE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6515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6C6C9-8D84-2989-10BB-E4B3C2FE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1D3197-492F-8D58-E38D-5E3706936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DCC48FEF-AE62-A049-1802-8981FDBC260F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997D9C73-3648-12A4-F84A-DC0AF61FEA83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388F9-C3A8-313F-E484-49450EA79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469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0DDF0F-E005-8828-AD31-8F588504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AB4767-0DC0-7D94-45D2-4D46A1401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258AB702-91D8-8DBD-4293-BB65FA0C6A89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A9419D80-B53F-5091-34A2-6B0BAAFF8119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944EC5-9225-BFCC-8CCE-18AB798B4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0623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F683F-FB68-3DF1-AB89-E77FE14A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B86B73-AC62-23C8-0AA9-490C76E77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1412821E-4DE7-462E-AF74-0CE8CFDEB065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E1451043-C0D8-F84E-8F62-6DEDF81FC190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15DD35-356D-FA99-A60E-1D5AA3879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7505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EA727F-3685-830A-D36A-F8646BFA9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6C765A-BDA4-1834-B9D3-14DF093FF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134ADC79-33AF-6124-32CE-BD683C518C63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4F7BEDA6-9E53-57F5-86C9-A8824021A5C8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B277A-1DA6-E3AB-4250-4988B312F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8219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64936-999D-C9BE-FB47-36F77E2F7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710C38-1561-D645-33F3-90E9EF3D9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24B2FA34-1622-3E7B-F608-A4BAA3D1755C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3FC23F11-2115-F056-610E-83928042E629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CC16B-F630-A9CC-E87D-8DC87E318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11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4391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D962B-BF3B-BBA7-479C-7C7FCB2F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EA4D84-9DC0-6F31-696E-17FE0B0F4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ABD2D449-5436-A1A0-B956-F241949783D4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E312838A-2E17-59E4-18A5-FDC2A8F48CC4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1488A-7579-3BA3-B082-CCA8C9EC8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4063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0D298-A417-E239-8CCC-DCF66EF6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674B50-908D-0145-01C4-1089C86C0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C8CA5E52-7F50-6CF2-D48F-6579381F5DCF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EB4B2942-E8D5-7553-C023-D391DDF9BE4C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C45CD-76D1-8D10-1C7F-A1C2393A3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12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9309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1C854-A94F-620A-B93B-C7EC5854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FBF039-14A1-641D-A6B2-314E535CF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AAF54837-20C3-478D-DEF5-7A11ECBF4153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918E2EE6-1021-3A44-6F5C-61815EE53E3A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2CD5E0-C1A6-336C-B4D5-4FDAED1C2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76511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DCFFF-0F99-323B-0136-8EBC85ACB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BE87EA-57CF-87EA-A1A1-4B2EEAB2B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D2DA4F32-D38C-1C60-83C8-66142F042017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BC2B815D-339B-911C-0637-94E7F0A82063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A71C9-B251-8EF9-3F39-191BF805B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0499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143CDA-D868-FEEE-E780-0C1767C6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F8CFE2-55DA-B0D3-B27D-EE4E6CCB2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999E3768-79ED-2952-5C0F-5873794E349B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D2519FAB-9573-2667-1917-F2CAD9599670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15B86E-F605-343C-1471-F0019300F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187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0D54B-6856-29A7-2B7E-4DD3F04F7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3DE90A-2C04-6798-4175-7C2DA720E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6E7CC5DF-75C4-933F-2F67-59F2C5B6E580}"/>
              </a:ext>
            </a:extLst>
          </p:cNvPr>
          <p:cNvSpPr/>
          <p:nvPr/>
        </p:nvSpPr>
        <p:spPr>
          <a:xfrm>
            <a:off x="548640" y="187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USPS Use case: OIG Dashboard with recommendations</a:t>
            </a:r>
            <a:endParaRPr lang="en-US" sz="30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B8356AE8-E8F0-2F96-0217-26F3FDAA3D04}"/>
              </a:ext>
            </a:extLst>
          </p:cNvPr>
          <p:cNvSpPr/>
          <p:nvPr/>
        </p:nvSpPr>
        <p:spPr>
          <a:xfrm>
            <a:off x="64739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DE3DF-2A30-70A7-D410-9DBA7C68D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8040"/>
            <a:ext cx="12192000" cy="602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3874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A828B-9232-01DF-43B3-88C632DD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72576BA-ABB6-F136-FE96-AA1B206496FF}"/>
              </a:ext>
            </a:extLst>
          </p:cNvPr>
          <p:cNvSpPr/>
          <p:nvPr/>
        </p:nvSpPr>
        <p:spPr>
          <a:xfrm>
            <a:off x="548640" y="1005840"/>
            <a:ext cx="5199017" cy="122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2E62"/>
                </a:solidFill>
                <a:latin typeface="Calibri" pitchFamily="34" charset="0"/>
                <a:cs typeface="Calibri" pitchFamily="34" charset="-120"/>
              </a:rPr>
              <a:t>References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7344B4-D4D8-EAF6-7DE7-FC3F84F68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BA417BF-DC14-6C48-93F9-8923EB0B6B0E}"/>
              </a:ext>
            </a:extLst>
          </p:cNvPr>
          <p:cNvSpPr/>
          <p:nvPr/>
        </p:nvSpPr>
        <p:spPr>
          <a:xfrm>
            <a:off x="548640" y="2042160"/>
            <a:ext cx="7315200" cy="183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kern="0" spc="3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[1] https://</a:t>
            </a:r>
            <a:r>
              <a:rPr lang="en-US" sz="1500" b="1" kern="0" spc="300" dirty="0" err="1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medium.com</a:t>
            </a:r>
            <a:r>
              <a:rPr lang="en-US" sz="1500" b="1" kern="0" spc="3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/</a:t>
            </a:r>
            <a:r>
              <a:rPr lang="en-US" sz="1500" b="1" kern="0" spc="300" dirty="0" err="1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thrivve</a:t>
            </a:r>
            <a:r>
              <a:rPr lang="en-US" sz="1500" b="1" kern="0" spc="3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-partners/signal-vs-noise-how-process-behaviour-charts-can-enable-more-effective-product-operations-e360cf474941 </a:t>
            </a:r>
          </a:p>
          <a:p>
            <a:endParaRPr lang="en-US" sz="1500" b="1" kern="0" spc="300" dirty="0">
              <a:solidFill>
                <a:srgbClr val="B3A5FF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500" b="1" kern="0" spc="3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[2] https://</a:t>
            </a:r>
            <a:r>
              <a:rPr lang="en-US" sz="1500" b="1" kern="0" spc="300" dirty="0" err="1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americas.hsmai.org</a:t>
            </a:r>
            <a:r>
              <a:rPr lang="en-US" sz="1500" b="1" kern="0" spc="300" dirty="0">
                <a:solidFill>
                  <a:srgbClr val="B3A5FF"/>
                </a:solidFill>
                <a:latin typeface="Calibri" pitchFamily="34" charset="0"/>
                <a:cs typeface="Calibri" pitchFamily="34" charset="-120"/>
              </a:rPr>
              <a:t>/insight/signal-vs-noise-what-revenue-leaders-said-when-we-put-the-question-on-the-table/ 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89793696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BDF4F7-5A53-C654-DB0D-21E7858A4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740C5ED-277A-BCCD-A104-E759ABBD794F}"/>
              </a:ext>
            </a:extLst>
          </p:cNvPr>
          <p:cNvSpPr/>
          <p:nvPr/>
        </p:nvSpPr>
        <p:spPr>
          <a:xfrm>
            <a:off x="548640" y="1005840"/>
            <a:ext cx="5199017" cy="122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2E62"/>
                </a:solidFill>
                <a:latin typeface="Calibri" pitchFamily="34" charset="0"/>
                <a:cs typeface="Calibri" pitchFamily="34" charset="-120"/>
              </a:rPr>
              <a:t>Q&amp;A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F6FEB2-C61B-6A8B-FA5C-8A8184EB3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0"/>
            <a:ext cx="1889761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46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29562</TotalTime>
  <Words>3114</Words>
  <Application>Microsoft Macintosh PowerPoint</Application>
  <PresentationFormat>Widescreen</PresentationFormat>
  <Paragraphs>1072</Paragraphs>
  <Slides>111</Slides>
  <Notes>111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Isaac K Gang</cp:lastModifiedBy>
  <cp:revision>240</cp:revision>
  <dcterms:created xsi:type="dcterms:W3CDTF">2026-08-03T21:46:00Z</dcterms:created>
  <dcterms:modified xsi:type="dcterms:W3CDTF">2026-09-10T02:25:29Z</dcterms:modified>
</cp:coreProperties>
</file>