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Median funded ratio (%)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0A2F66"/>
            </a:solidFill>
          </c:spPr>
          <c:dLbls>
            <c:txPr>
              <a:bodyPr/>
              <a:lstStyle/>
              <a:p>
                <a:pPr>
                  <a:defRPr sz="900"/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2034
Status Quo</c:v>
                </c:pt>
                <c:pt idx="1">
                  <c:v>2034
Diversified</c:v>
                </c:pt>
                <c:pt idx="2">
                  <c:v>2044
Status Quo</c:v>
                </c:pt>
                <c:pt idx="3">
                  <c:v>2044
Diversified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81</c:v>
                </c:pt>
                <c:pt idx="1">
                  <c:v>96</c:v>
                </c:pt>
                <c:pt idx="2">
                  <c:v>92</c:v>
                </c:pt>
                <c:pt idx="3">
                  <c:v>119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30.0"/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2044 median funded ratio (%)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0A2F66"/>
            </a:solidFill>
          </c:spPr>
          <c:dLbls>
            <c:txPr>
              <a:bodyPr/>
              <a:lstStyle/>
              <a:p>
                <a:pPr>
                  <a:defRPr sz="900"/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Status
Quo</c:v>
                </c:pt>
                <c:pt idx="1">
                  <c:v>Fixed
COLA</c:v>
                </c:pt>
                <c:pt idx="2">
                  <c:v>Higher
Contribution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92</c:v>
                </c:pt>
                <c:pt idx="1">
                  <c:v>94</c:v>
                </c:pt>
                <c:pt idx="2">
                  <c:v>99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5.0"/>
          <c:min val="8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2044 median funded ratio (%)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0A2F66"/>
            </a:solidFill>
          </c:spPr>
          <c:dLbls>
            <c:txPr>
              <a:bodyPr/>
              <a:lstStyle/>
              <a:p>
                <a:pPr>
                  <a:defRPr sz="900"/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Sheet1!$A$2:$A$6</c:f>
              <c:strCache>
                <c:ptCount val="5"/>
                <c:pt idx="0">
                  <c:v>Status Quo</c:v>
                </c:pt>
                <c:pt idx="1">
                  <c:v>Diversified
Investment</c:v>
                </c:pt>
                <c:pt idx="2">
                  <c:v>Closed DB
Plan</c:v>
                </c:pt>
                <c:pt idx="3">
                  <c:v>Fixed
COLA</c:v>
                </c:pt>
                <c:pt idx="4">
                  <c:v>Higher New-Hire
Contribution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92</c:v>
                </c:pt>
                <c:pt idx="1">
                  <c:v>119</c:v>
                </c:pt>
                <c:pt idx="2">
                  <c:v>110</c:v>
                </c:pt>
                <c:pt idx="3">
                  <c:v>94</c:v>
                </c:pt>
                <c:pt idx="4">
                  <c:v>99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30.0"/>
          <c:min val="5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5th percentile</c:v>
                </c:pt>
              </c:strCache>
            </c:strRef>
          </c:tx>
          <c:spPr>
            <a:solidFill>
              <a:srgbClr val="67727A"/>
            </a:solidFill>
          </c:spPr>
          <c:cat>
            <c:strRef>
              <c:f>Sheet1!$A$2:$A$6</c:f>
              <c:strCache>
                <c:ptCount val="5"/>
                <c:pt idx="0">
                  <c:v>Status Quo</c:v>
                </c:pt>
                <c:pt idx="1">
                  <c:v>Diversified
Investment</c:v>
                </c:pt>
                <c:pt idx="2">
                  <c:v>Closed DB
Plan</c:v>
                </c:pt>
                <c:pt idx="3">
                  <c:v>Fixed
COLA</c:v>
                </c:pt>
                <c:pt idx="4">
                  <c:v>Higher New-Hire
Contribution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71</c:v>
                </c:pt>
                <c:pt idx="1">
                  <c:v>56</c:v>
                </c:pt>
                <c:pt idx="2">
                  <c:v>81</c:v>
                </c:pt>
                <c:pt idx="3">
                  <c:v>75</c:v>
                </c:pt>
                <c:pt idx="4">
                  <c:v>78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95th percentile</c:v>
                </c:pt>
              </c:strCache>
            </c:strRef>
          </c:tx>
          <c:spPr>
            <a:solidFill>
              <a:srgbClr val="39B54A"/>
            </a:solidFill>
          </c:spPr>
          <c:cat>
            <c:strRef>
              <c:f>Sheet1!$A$2:$A$6</c:f>
              <c:strCache>
                <c:ptCount val="5"/>
                <c:pt idx="0">
                  <c:v>Status Quo</c:v>
                </c:pt>
                <c:pt idx="1">
                  <c:v>Diversified
Investment</c:v>
                </c:pt>
                <c:pt idx="2">
                  <c:v>Closed DB
Plan</c:v>
                </c:pt>
                <c:pt idx="3">
                  <c:v>Fixed
COLA</c:v>
                </c:pt>
                <c:pt idx="4">
                  <c:v>Higher New-Hire
Contribution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117</c:v>
                </c:pt>
                <c:pt idx="1">
                  <c:v>242</c:v>
                </c:pt>
                <c:pt idx="2">
                  <c:v>145</c:v>
                </c:pt>
                <c:pt idx="3">
                  <c:v>118</c:v>
                </c:pt>
                <c:pt idx="4">
                  <c:v>126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260.0"/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legend>
      <c:legendPos val="b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10241280" y="0"/>
            <a:ext cx="1280160" cy="1280160"/>
          </a:xfrm>
          <a:prstGeom prst="triangle">
            <a:avLst/>
          </a:prstGeom>
          <a:solidFill>
            <a:srgbClr val="39B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Isosceles Triangle 3"/>
          <p:cNvSpPr/>
          <p:nvPr/>
        </p:nvSpPr>
        <p:spPr>
          <a:xfrm rot="5400000">
            <a:off x="10972800" y="685800"/>
            <a:ext cx="1280160" cy="1280160"/>
          </a:xfrm>
          <a:prstGeom prst="triangle">
            <a:avLst/>
          </a:prstGeom>
          <a:solidFill>
            <a:srgbClr val="39B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Isosceles Triangle 4"/>
          <p:cNvSpPr/>
          <p:nvPr/>
        </p:nvSpPr>
        <p:spPr>
          <a:xfrm rot="10800000">
            <a:off x="9646920" y="1234440"/>
            <a:ext cx="1280160" cy="1280160"/>
          </a:xfrm>
          <a:prstGeom prst="triangle">
            <a:avLst/>
          </a:prstGeom>
          <a:solidFill>
            <a:srgbClr val="39B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2011680"/>
            <a:ext cx="9692640" cy="1554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67727A"/>
                </a:solidFill>
              </a:defRPr>
            </a:pPr>
            <a:r>
              <a:t>USPS OIG 2026 Project</a:t>
            </a:r>
          </a:p>
          <a:p>
            <a:pPr>
              <a:defRPr sz="3800" b="1">
                <a:solidFill>
                  <a:srgbClr val="0A2F66"/>
                </a:solidFill>
              </a:defRPr>
            </a:pPr>
            <a:r>
              <a:t>The Pension Funding Story</a:t>
            </a:r>
          </a:p>
          <a:p>
            <a:pPr>
              <a:defRPr sz="2000">
                <a:solidFill>
                  <a:srgbClr val="202832"/>
                </a:solidFill>
              </a:defRPr>
            </a:pPr>
            <a:r>
              <a:t>What 2,000 Monte Carlo simulations say about four policy levers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50749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7727A"/>
                </a:solidFill>
              </a:defRPr>
            </a:pPr>
            <a:r>
              <a:t>Digital-story adaptation of the June 2026 draft preliminary stochastic inflation results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9B54A"/>
                </a:solidFill>
              </a:defRPr>
            </a:pPr>
            <a:r>
              <a:t>STORY 1 • FRAME THE DECISION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858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A2F66"/>
                </a:solidFill>
              </a:defRPr>
            </a:pPr>
            <a:r>
              <a:t>One question drives the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00200"/>
            <a:ext cx="56692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700">
                <a:solidFill>
                  <a:srgbClr val="202832"/>
                </a:solidFill>
              </a:defRPr>
            </a:pPr>
            <a:r>
              <a:t>• How do alternative policy and investment choices change the pension funded ratio and DB balance sheet over time?</a:t>
            </a:r>
          </a:p>
          <a:p>
            <a:pPr>
              <a:spcAft>
                <a:spcPts val="1400"/>
              </a:spcAft>
              <a:defRPr sz="1700">
                <a:solidFill>
                  <a:srgbClr val="202832"/>
                </a:solidFill>
              </a:defRPr>
            </a:pPr>
            <a:r>
              <a:t>• The source evaluates outcomes at the 5th, 25th, 50th, 75th and 95th percentiles across 2,000 Monte Carlo simulations.</a:t>
            </a:r>
          </a:p>
          <a:p>
            <a:pPr>
              <a:spcAft>
                <a:spcPts val="1400"/>
              </a:spcAft>
              <a:defRPr sz="1700">
                <a:solidFill>
                  <a:srgbClr val="202832"/>
                </a:solidFill>
              </a:defRPr>
            </a:pPr>
            <a:r>
              <a:t>• The story is clearest when we compare the median outcome first, then test the upside and downside tails.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0" y="1645920"/>
            <a:ext cx="2011680" cy="1737360"/>
          </a:xfrm>
          <a:prstGeom prst="roundRect">
            <a:avLst/>
          </a:prstGeom>
          <a:solidFill>
            <a:srgbClr val="F3F6F8"/>
          </a:solidFill>
          <a:ln>
            <a:solidFill>
              <a:srgbClr val="D9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86600" y="1828800"/>
            <a:ext cx="15544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39B54A"/>
                </a:solidFill>
              </a:defRPr>
            </a:pPr>
            <a:r>
              <a:t>2,000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86600" y="2395728"/>
            <a:ext cx="15544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202832"/>
                </a:solidFill>
              </a:defRPr>
            </a:pPr>
            <a:r>
              <a:t>simulations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098280" y="1645920"/>
            <a:ext cx="2011680" cy="1737360"/>
          </a:xfrm>
          <a:prstGeom prst="roundRect">
            <a:avLst/>
          </a:prstGeom>
          <a:solidFill>
            <a:srgbClr val="F3F6F8"/>
          </a:solidFill>
          <a:ln>
            <a:solidFill>
              <a:srgbClr val="D9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0" y="1828800"/>
            <a:ext cx="15544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39B54A"/>
                </a:solidFill>
              </a:defRPr>
            </a:pPr>
            <a:r>
              <a:t>2034 / 2044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0" y="2395728"/>
            <a:ext cx="15544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202832"/>
                </a:solidFill>
              </a:defRPr>
            </a:pPr>
            <a:r>
              <a:t>time horizons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0" y="3657600"/>
            <a:ext cx="4251960" cy="1737360"/>
          </a:xfrm>
          <a:prstGeom prst="roundRect">
            <a:avLst/>
          </a:prstGeom>
          <a:solidFill>
            <a:srgbClr val="F3F6F8"/>
          </a:solidFill>
          <a:ln>
            <a:solidFill>
              <a:srgbClr val="D9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086600" y="3840480"/>
            <a:ext cx="37947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39B54A"/>
                </a:solidFill>
              </a:defRPr>
            </a:pPr>
            <a:r>
              <a:t>5th → 95th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86600" y="4407408"/>
            <a:ext cx="37947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202832"/>
                </a:solidFill>
              </a:defRPr>
            </a:pPr>
            <a:r>
              <a:t>outcome range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86600" y="4892040"/>
            <a:ext cx="37947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7727A"/>
                </a:solidFill>
              </a:defRPr>
            </a:pPr>
            <a:r>
              <a:t>Funded ratio and DB balance sheet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4360" y="6510528"/>
            <a:ext cx="10972800" cy="18288"/>
          </a:xfrm>
          <a:prstGeom prst="rect">
            <a:avLst/>
          </a:prstGeom>
          <a:solidFill>
            <a:srgbClr val="D8DE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" y="6556248"/>
            <a:ext cx="9875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7727A"/>
                </a:solidFill>
              </a:defRPr>
            </a:pPr>
            <a:r>
              <a:t>USPS OIG 2026 Project • Digital story derived from June 2026 preliminary stochastic results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0" y="6537960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7727A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9B54A"/>
                </a:solidFill>
              </a:defRPr>
            </a:pPr>
            <a:r>
              <a:t>STORY 2 • ESTABLISH THE BASELINE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858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A2F66"/>
                </a:solidFill>
              </a:defRPr>
            </a:pPr>
            <a:r>
              <a:t>The status quo improves—but remains below full funding at the median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2286000" cy="1828800"/>
          </a:xfrm>
          <a:prstGeom prst="roundRect">
            <a:avLst/>
          </a:prstGeom>
          <a:solidFill>
            <a:srgbClr val="F3F6F8"/>
          </a:solidFill>
          <a:ln>
            <a:solidFill>
              <a:srgbClr val="D9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737360"/>
            <a:ext cx="1828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A2F66"/>
                </a:solidFill>
              </a:defRPr>
            </a:pPr>
            <a:r>
              <a:t>81%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304288"/>
            <a:ext cx="1828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202832"/>
                </a:solidFill>
              </a:defRPr>
            </a:pPr>
            <a:r>
              <a:t>2034 median funded ratio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788920"/>
            <a:ext cx="1828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7727A"/>
                </a:solidFill>
              </a:defRPr>
            </a:pPr>
            <a:r>
              <a:t>Median compound return: 3.5%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46120" y="1554480"/>
            <a:ext cx="2286000" cy="1828800"/>
          </a:xfrm>
          <a:prstGeom prst="roundRect">
            <a:avLst/>
          </a:prstGeom>
          <a:solidFill>
            <a:srgbClr val="F3F6F8"/>
          </a:solidFill>
          <a:ln>
            <a:solidFill>
              <a:srgbClr val="D9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74720" y="1737360"/>
            <a:ext cx="1828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A2F66"/>
                </a:solidFill>
              </a:defRPr>
            </a:pPr>
            <a:r>
              <a:t>92%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0" y="2304288"/>
            <a:ext cx="1828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202832"/>
                </a:solidFill>
              </a:defRPr>
            </a:pPr>
            <a:r>
              <a:t>2044 median funded ratio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0" y="2788920"/>
            <a:ext cx="1828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7727A"/>
                </a:solidFill>
              </a:defRPr>
            </a:pPr>
            <a:r>
              <a:t>Median compound return: 3.9%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794760"/>
            <a:ext cx="2286000" cy="1828800"/>
          </a:xfrm>
          <a:prstGeom prst="roundRect">
            <a:avLst/>
          </a:prstGeom>
          <a:solidFill>
            <a:srgbClr val="F3F6F8"/>
          </a:solidFill>
          <a:ln>
            <a:solidFill>
              <a:srgbClr val="D9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977640"/>
            <a:ext cx="1828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B73232"/>
                </a:solidFill>
              </a:defRPr>
            </a:pPr>
            <a:r>
              <a:t>–$45.3B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544568"/>
            <a:ext cx="1828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202832"/>
                </a:solidFill>
              </a:defRPr>
            </a:pPr>
            <a:r>
              <a:t>2034 median DB balance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5029200"/>
            <a:ext cx="1828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7727A"/>
                </a:solidFill>
              </a:defRPr>
            </a:pPr>
            <a:r>
              <a:t>Source reports millions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246120" y="3794760"/>
            <a:ext cx="2286000" cy="1828800"/>
          </a:xfrm>
          <a:prstGeom prst="roundRect">
            <a:avLst/>
          </a:prstGeom>
          <a:solidFill>
            <a:srgbClr val="F3F6F8"/>
          </a:solidFill>
          <a:ln>
            <a:solidFill>
              <a:srgbClr val="D9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474720" y="3977640"/>
            <a:ext cx="1828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B73232"/>
                </a:solidFill>
              </a:defRPr>
            </a:pPr>
            <a:r>
              <a:t>–$27.3B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74720" y="4544568"/>
            <a:ext cx="1828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202832"/>
                </a:solidFill>
              </a:defRPr>
            </a:pPr>
            <a:r>
              <a:t>2044 median DB balance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74720" y="5029200"/>
            <a:ext cx="1828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7727A"/>
                </a:solidFill>
              </a:defRPr>
            </a:pPr>
            <a:r>
              <a:t>Source reports millions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26480" y="1828800"/>
            <a:ext cx="51206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700">
                <a:solidFill>
                  <a:srgbClr val="202832"/>
                </a:solidFill>
              </a:defRPr>
            </a:pPr>
            <a:r>
              <a:t>• At the median, the funded ratio rises 11 percentage points from 2034 to 2044.</a:t>
            </a:r>
          </a:p>
          <a:p>
            <a:pPr>
              <a:spcAft>
                <a:spcPts val="1400"/>
              </a:spcAft>
              <a:defRPr sz="1700">
                <a:solidFill>
                  <a:srgbClr val="202832"/>
                </a:solidFill>
              </a:defRPr>
            </a:pPr>
            <a:r>
              <a:t>• The median balance-sheet deficit narrows by about $18.0B, but does not disappear.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94360" y="6510528"/>
            <a:ext cx="10972800" cy="18288"/>
          </a:xfrm>
          <a:prstGeom prst="rect">
            <a:avLst/>
          </a:prstGeom>
          <a:solidFill>
            <a:srgbClr val="D8DE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4360" y="6556248"/>
            <a:ext cx="9875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7727A"/>
                </a:solidFill>
              </a:defRPr>
            </a:pPr>
            <a:r>
              <a:t>USPS OIG 2026 Project • Digital story derived from June 2026 preliminary stochastic results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0" y="6537960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7727A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9B54A"/>
                </a:solidFill>
              </a:defRPr>
            </a:pPr>
            <a:r>
              <a:t>STORY 3 • INVESTMENT LEVER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858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A2F66"/>
                </a:solidFill>
              </a:defRPr>
            </a:pPr>
            <a:r>
              <a:t>Diversified investment creates the largest median funding lift—and the widest tail risk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685800" y="1508760"/>
          <a:ext cx="5577840" cy="42976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537960" y="1645920"/>
            <a:ext cx="48920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700">
                <a:solidFill>
                  <a:srgbClr val="202832"/>
                </a:solidFill>
              </a:defRPr>
            </a:pPr>
            <a:r>
              <a:t>• Assumption: 60% global public equity / 40% core fixed income.</a:t>
            </a:r>
          </a:p>
          <a:p>
            <a:pPr>
              <a:spcAft>
                <a:spcPts val="1400"/>
              </a:spcAft>
              <a:defRPr sz="1700">
                <a:solidFill>
                  <a:srgbClr val="202832"/>
                </a:solidFill>
              </a:defRPr>
            </a:pPr>
            <a:r>
              <a:t>• Median compound return: 5.3% per year for the diversified portfolio.</a:t>
            </a:r>
          </a:p>
          <a:p>
            <a:pPr>
              <a:spcAft>
                <a:spcPts val="1400"/>
              </a:spcAft>
              <a:defRPr sz="1700">
                <a:solidFill>
                  <a:srgbClr val="202832"/>
                </a:solidFill>
              </a:defRPr>
            </a:pPr>
            <a:r>
              <a:t>• Median funded ratio reaches 96% in 2034 and 119% in 2044.</a:t>
            </a:r>
          </a:p>
          <a:p>
            <a:pPr>
              <a:spcAft>
                <a:spcPts val="1400"/>
              </a:spcAft>
              <a:defRPr sz="1700">
                <a:solidFill>
                  <a:srgbClr val="202832"/>
                </a:solidFill>
              </a:defRPr>
            </a:pPr>
            <a:r>
              <a:t>• But the 2044 5th-percentile funded ratio falls to 56%, versus 71% under status quo.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6510528"/>
            <a:ext cx="10972800" cy="18288"/>
          </a:xfrm>
          <a:prstGeom prst="rect">
            <a:avLst/>
          </a:prstGeom>
          <a:solidFill>
            <a:srgbClr val="D8DE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6556248"/>
            <a:ext cx="9875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7727A"/>
                </a:solidFill>
              </a:defRPr>
            </a:pPr>
            <a:r>
              <a:t>USPS OIG 2026 Project • Digital story derived from June 2026 preliminary stochastic results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537960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7727A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9B54A"/>
                </a:solidFill>
              </a:defRPr>
            </a:pPr>
            <a:r>
              <a:t>STORY 4 • PLAN-DESIGN LEVER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858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A2F66"/>
                </a:solidFill>
              </a:defRPr>
            </a:pPr>
            <a:r>
              <a:t>Closing the DB plan to new hires produces a strong long-horizon improvement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2194560" cy="1737360"/>
          </a:xfrm>
          <a:prstGeom prst="roundRect">
            <a:avLst/>
          </a:prstGeom>
          <a:solidFill>
            <a:srgbClr val="F3F6F8"/>
          </a:solidFill>
          <a:ln>
            <a:solidFill>
              <a:srgbClr val="D9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737360"/>
            <a:ext cx="17373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39B54A"/>
                </a:solidFill>
              </a:defRPr>
            </a:pPr>
            <a:r>
              <a:t>84%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304288"/>
            <a:ext cx="17373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202832"/>
                </a:solidFill>
              </a:defRPr>
            </a:pPr>
            <a:r>
              <a:t>2034 median funded ratio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788920"/>
            <a:ext cx="1737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7727A"/>
                </a:solidFill>
              </a:defRPr>
            </a:pPr>
            <a:r>
              <a:t>+3 pts vs. status quo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154680" y="1554480"/>
            <a:ext cx="2194560" cy="1737360"/>
          </a:xfrm>
          <a:prstGeom prst="roundRect">
            <a:avLst/>
          </a:prstGeom>
          <a:solidFill>
            <a:srgbClr val="F3F6F8"/>
          </a:solidFill>
          <a:ln>
            <a:solidFill>
              <a:srgbClr val="D9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83280" y="1737360"/>
            <a:ext cx="17373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39B54A"/>
                </a:solidFill>
              </a:defRPr>
            </a:pPr>
            <a:r>
              <a:t>110%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2304288"/>
            <a:ext cx="17373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202832"/>
                </a:solidFill>
              </a:defRPr>
            </a:pPr>
            <a:r>
              <a:t>2044 median funded ratio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2788920"/>
            <a:ext cx="1737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7727A"/>
                </a:solidFill>
              </a:defRPr>
            </a:pPr>
            <a:r>
              <a:t>+18 pts vs. status quo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657600"/>
            <a:ext cx="2194560" cy="1737360"/>
          </a:xfrm>
          <a:prstGeom prst="roundRect">
            <a:avLst/>
          </a:prstGeom>
          <a:solidFill>
            <a:srgbClr val="F3F6F8"/>
          </a:solidFill>
          <a:ln>
            <a:solidFill>
              <a:srgbClr val="D9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840480"/>
            <a:ext cx="17373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39B54A"/>
                </a:solidFill>
              </a:defRPr>
            </a:pPr>
            <a:r>
              <a:t>–$34.8B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407408"/>
            <a:ext cx="17373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202832"/>
                </a:solidFill>
              </a:defRPr>
            </a:pPr>
            <a:r>
              <a:t>2034 median DB balance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4892040"/>
            <a:ext cx="1737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7727A"/>
                </a:solidFill>
              </a:defRPr>
            </a:pPr>
            <a:r>
              <a:t>vs. –$45.3B status quo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154680" y="3657600"/>
            <a:ext cx="2194560" cy="1737360"/>
          </a:xfrm>
          <a:prstGeom prst="roundRect">
            <a:avLst/>
          </a:prstGeom>
          <a:solidFill>
            <a:srgbClr val="F3F6F8"/>
          </a:solidFill>
          <a:ln>
            <a:solidFill>
              <a:srgbClr val="D9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383280" y="3840480"/>
            <a:ext cx="17373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39B54A"/>
                </a:solidFill>
              </a:defRPr>
            </a:pPr>
            <a:r>
              <a:t>+$22.7B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83280" y="4407408"/>
            <a:ext cx="17373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202832"/>
                </a:solidFill>
              </a:defRPr>
            </a:pPr>
            <a:r>
              <a:t>2044 median DB balance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83280" y="4892040"/>
            <a:ext cx="1737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7727A"/>
                </a:solidFill>
              </a:defRPr>
            </a:pPr>
            <a:r>
              <a:t>vs. –$27.3B status quo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89320" y="1645920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700">
                <a:solidFill>
                  <a:srgbClr val="202832"/>
                </a:solidFill>
              </a:defRPr>
            </a:pPr>
            <a:r>
              <a:t>• Assumption: new hires receive no FERS DB benefit; USPS makes an additional 4% TSP contribution.</a:t>
            </a:r>
          </a:p>
          <a:p>
            <a:pPr>
              <a:spcAft>
                <a:spcPts val="1400"/>
              </a:spcAft>
              <a:defRPr sz="1700">
                <a:solidFill>
                  <a:srgbClr val="202832"/>
                </a:solidFill>
              </a:defRPr>
            </a:pPr>
            <a:r>
              <a:t>• Net savings are treated as an additional asset and invested in special-purpose Treasuries.</a:t>
            </a:r>
          </a:p>
          <a:p>
            <a:pPr>
              <a:spcAft>
                <a:spcPts val="1400"/>
              </a:spcAft>
              <a:defRPr sz="1700">
                <a:solidFill>
                  <a:srgbClr val="202832"/>
                </a:solidFill>
              </a:defRPr>
            </a:pPr>
            <a:r>
              <a:t>• Unlike Scenario 1, this comparison holds investment-return assumptions constant.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94360" y="6510528"/>
            <a:ext cx="10972800" cy="18288"/>
          </a:xfrm>
          <a:prstGeom prst="rect">
            <a:avLst/>
          </a:prstGeom>
          <a:solidFill>
            <a:srgbClr val="D8DE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4360" y="6556248"/>
            <a:ext cx="9875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7727A"/>
                </a:solidFill>
              </a:defRPr>
            </a:pPr>
            <a:r>
              <a:t>USPS OIG 2026 Project • Digital story derived from June 2026 preliminary stochastic results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0" y="6537960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7727A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9B54A"/>
                </a:solidFill>
              </a:defRPr>
            </a:pPr>
            <a:r>
              <a:t>STORY 5 • BENEFIT AND CONTRIBUTION LEVERS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858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A2F66"/>
                </a:solidFill>
              </a:defRPr>
            </a:pPr>
            <a:r>
              <a:t>Fixed COLA has a modest median effect; higher new-hire contributions do more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685800" y="1554480"/>
          <a:ext cx="5669280" cy="42976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6812280" y="1645920"/>
            <a:ext cx="2057400" cy="1691640"/>
          </a:xfrm>
          <a:prstGeom prst="roundRect">
            <a:avLst/>
          </a:prstGeom>
          <a:solidFill>
            <a:srgbClr val="F3F6F8"/>
          </a:solidFill>
          <a:ln>
            <a:solidFill>
              <a:srgbClr val="D9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40880" y="1828800"/>
            <a:ext cx="16002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39B54A"/>
                </a:solidFill>
              </a:defRPr>
            </a:pPr>
            <a:r>
              <a:t>94%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40880" y="2395728"/>
            <a:ext cx="16002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202832"/>
                </a:solidFill>
              </a:defRPr>
            </a:pPr>
            <a:r>
              <a:t>Fixed COLA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0" y="2880360"/>
            <a:ext cx="1600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7727A"/>
                </a:solidFill>
              </a:defRPr>
            </a:pPr>
            <a:r>
              <a:t>2044 median funded ratio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098280" y="1645920"/>
            <a:ext cx="2057400" cy="1691640"/>
          </a:xfrm>
          <a:prstGeom prst="roundRect">
            <a:avLst/>
          </a:prstGeom>
          <a:solidFill>
            <a:srgbClr val="F3F6F8"/>
          </a:solidFill>
          <a:ln>
            <a:solidFill>
              <a:srgbClr val="D9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0" y="1828800"/>
            <a:ext cx="16002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39B54A"/>
                </a:solidFill>
              </a:defRPr>
            </a:pPr>
            <a:r>
              <a:t>99%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0" y="2395728"/>
            <a:ext cx="16002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202832"/>
                </a:solidFill>
              </a:defRPr>
            </a:pPr>
            <a:r>
              <a:t>Higher contribution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0" y="2880360"/>
            <a:ext cx="1600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7727A"/>
                </a:solidFill>
              </a:defRPr>
            </a:pPr>
            <a:r>
              <a:t>2044 median funded ratio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3657600"/>
            <a:ext cx="47548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700">
                <a:solidFill>
                  <a:srgbClr val="202832"/>
                </a:solidFill>
              </a:defRPr>
            </a:pPr>
            <a:r>
              <a:t>• Scenario 3: fixed COLA moves the 2044 median funded ratio from 92% to 94%.</a:t>
            </a:r>
          </a:p>
          <a:p>
            <a:pPr>
              <a:spcAft>
                <a:spcPts val="1400"/>
              </a:spcAft>
              <a:defRPr sz="1700">
                <a:solidFill>
                  <a:srgbClr val="202832"/>
                </a:solidFill>
              </a:defRPr>
            </a:pPr>
            <a:r>
              <a:t>• Scenario 4: new-hire employee contribution rises from 4.4% to 8.8%, lifting the 2044 median funded ratio to 99%.</a:t>
            </a:r>
          </a:p>
          <a:p>
            <a:pPr>
              <a:spcAft>
                <a:spcPts val="1400"/>
              </a:spcAft>
              <a:defRPr sz="1700">
                <a:solidFill>
                  <a:srgbClr val="202832"/>
                </a:solidFill>
              </a:defRPr>
            </a:pPr>
            <a:r>
              <a:t>• At the 2044 median balance sheet, both remain deficits: –$21.1B for fixed COLA and –$1.8B for higher contributions.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" y="6510528"/>
            <a:ext cx="10972800" cy="18288"/>
          </a:xfrm>
          <a:prstGeom prst="rect">
            <a:avLst/>
          </a:prstGeom>
          <a:solidFill>
            <a:srgbClr val="D8DE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6556248"/>
            <a:ext cx="9875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7727A"/>
                </a:solidFill>
              </a:defRPr>
            </a:pPr>
            <a:r>
              <a:t>USPS OIG 2026 Project • Digital story derived from June 2026 preliminary stochastic results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0" y="6537960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7727A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9B54A"/>
                </a:solidFill>
              </a:defRPr>
            </a:pPr>
            <a:r>
              <a:t>STORY 6 • COMPARE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858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A2F66"/>
                </a:solidFill>
              </a:defRPr>
            </a:pPr>
            <a:r>
              <a:t>By 2044, the four levers separate clearly at the median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594360" y="1417320"/>
          <a:ext cx="10972800" cy="45262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77240" y="598932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202832"/>
                </a:solidFill>
              </a:defRPr>
            </a:pPr>
            <a:r>
              <a:t>Median ranking: Diversified Investment (119%) → Closed DB Plan (110%) → Higher New-Hire Contribution (99%) → Fixed COLA (94%) → Status Quo (92%).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6510528"/>
            <a:ext cx="10972800" cy="18288"/>
          </a:xfrm>
          <a:prstGeom prst="rect">
            <a:avLst/>
          </a:prstGeom>
          <a:solidFill>
            <a:srgbClr val="D8DE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6556248"/>
            <a:ext cx="9875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7727A"/>
                </a:solidFill>
              </a:defRPr>
            </a:pPr>
            <a:r>
              <a:t>USPS OIG 2026 Project • Digital story derived from June 2026 preliminary stochastic results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537960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7727A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9B54A"/>
                </a:solidFill>
              </a:defRPr>
            </a:pPr>
            <a:r>
              <a:t>STORY 7 • MAKE RISK VISIBLE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858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A2F66"/>
                </a:solidFill>
              </a:defRPr>
            </a:pPr>
            <a:r>
              <a:t>The ranking changes when downside protection matters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594360" y="1417320"/>
          <a:ext cx="7498079" cy="46634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8366760" y="1600200"/>
            <a:ext cx="32918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700">
                <a:solidFill>
                  <a:srgbClr val="202832"/>
                </a:solidFill>
              </a:defRPr>
            </a:pPr>
            <a:r>
              <a:t>• Diversified investment has the highest upside: 242% funded at the 95th percentile in 2044.</a:t>
            </a:r>
          </a:p>
          <a:p>
            <a:pPr>
              <a:spcAft>
                <a:spcPts val="1400"/>
              </a:spcAft>
              <a:defRPr sz="1700">
                <a:solidFill>
                  <a:srgbClr val="202832"/>
                </a:solidFill>
              </a:defRPr>
            </a:pPr>
            <a:r>
              <a:t>• It also has the lowest downside funded ratio: 56% at the 5th percentile.</a:t>
            </a:r>
          </a:p>
          <a:p>
            <a:pPr>
              <a:spcAft>
                <a:spcPts val="1400"/>
              </a:spcAft>
              <a:defRPr sz="1700">
                <a:solidFill>
                  <a:srgbClr val="202832"/>
                </a:solidFill>
              </a:defRPr>
            </a:pPr>
            <a:r>
              <a:t>• Closed DB plan improves the 2044 5th-percentile funded ratio to 81%, the strongest downside result among the alternatives shown.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6510528"/>
            <a:ext cx="10972800" cy="18288"/>
          </a:xfrm>
          <a:prstGeom prst="rect">
            <a:avLst/>
          </a:prstGeom>
          <a:solidFill>
            <a:srgbClr val="D8DE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6556248"/>
            <a:ext cx="9875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7727A"/>
                </a:solidFill>
              </a:defRPr>
            </a:pPr>
            <a:r>
              <a:t>USPS OIG 2026 Project • Digital story derived from June 2026 preliminary stochastic results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537960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7727A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9B54A"/>
                </a:solidFill>
              </a:defRPr>
            </a:pPr>
            <a:r>
              <a:t>STORY 8 • TRANSLATE RATIOS INTO DOLLARS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858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A2F66"/>
                </a:solidFill>
              </a:defRPr>
            </a:pPr>
            <a:r>
              <a:t>The balance-sheet view reinforces the long-term trade-offs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08760"/>
            <a:ext cx="2331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202832"/>
                </a:solidFill>
              </a:defRPr>
            </a:pPr>
            <a:r>
              <a:t>Status Quo</a:t>
            </a:r>
          </a:p>
        </p:txBody>
      </p:sp>
      <p:sp>
        <p:nvSpPr>
          <p:cNvPr id="6" name="Rectangle 5"/>
          <p:cNvSpPr/>
          <p:nvPr/>
        </p:nvSpPr>
        <p:spPr>
          <a:xfrm>
            <a:off x="3900006" y="1536192"/>
            <a:ext cx="1769273" cy="320040"/>
          </a:xfrm>
          <a:prstGeom prst="rect">
            <a:avLst/>
          </a:prstGeom>
          <a:solidFill>
            <a:srgbClr val="B73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12680" y="1490472"/>
            <a:ext cx="1417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B73232"/>
                </a:solidFill>
              </a:defRPr>
            </a:pPr>
            <a:r>
              <a:t>–$27.3B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350008"/>
            <a:ext cx="2331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202832"/>
                </a:solidFill>
              </a:defRPr>
            </a:pPr>
            <a:r>
              <a:t>Diversified Investment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0" y="2377439"/>
            <a:ext cx="3956907" cy="320040"/>
          </a:xfrm>
          <a:prstGeom prst="rect">
            <a:avLst/>
          </a:prstGeom>
          <a:solidFill>
            <a:srgbClr val="39B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12680" y="2331720"/>
            <a:ext cx="1417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39B54A"/>
                </a:solidFill>
              </a:defRPr>
            </a:pPr>
            <a:r>
              <a:t>+$61.1B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191256"/>
            <a:ext cx="2331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202832"/>
                </a:solidFill>
              </a:defRPr>
            </a:pPr>
            <a:r>
              <a:t>Closed DB Plan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0" y="3218688"/>
            <a:ext cx="1471278" cy="320040"/>
          </a:xfrm>
          <a:prstGeom prst="rect">
            <a:avLst/>
          </a:prstGeom>
          <a:solidFill>
            <a:srgbClr val="39B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12680" y="3172968"/>
            <a:ext cx="1417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39B54A"/>
                </a:solidFill>
              </a:defRPr>
            </a:pPr>
            <a:r>
              <a:t>+$22.7B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032504"/>
            <a:ext cx="2331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202832"/>
                </a:solidFill>
              </a:defRPr>
            </a:pPr>
            <a:r>
              <a:t>Fixed COLA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05034" y="4059936"/>
            <a:ext cx="1364245" cy="320040"/>
          </a:xfrm>
          <a:prstGeom prst="rect">
            <a:avLst/>
          </a:prstGeom>
          <a:solidFill>
            <a:srgbClr val="B73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12680" y="4014216"/>
            <a:ext cx="1417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B73232"/>
                </a:solidFill>
              </a:defRPr>
            </a:pPr>
            <a:r>
              <a:t>–$21.1B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873752"/>
            <a:ext cx="2331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202832"/>
                </a:solidFill>
              </a:defRPr>
            </a:pPr>
            <a:r>
              <a:t>Higher New-Hire Contribution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551764" y="4901184"/>
            <a:ext cx="117515" cy="320040"/>
          </a:xfrm>
          <a:prstGeom prst="rect">
            <a:avLst/>
          </a:prstGeom>
          <a:solidFill>
            <a:srgbClr val="B73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12680" y="4855464"/>
            <a:ext cx="1417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B73232"/>
                </a:solidFill>
              </a:defRPr>
            </a:pPr>
            <a:r>
              <a:t>–$1.8B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50992" y="1371600"/>
            <a:ext cx="22860" cy="4343400"/>
          </a:xfrm>
          <a:prstGeom prst="rect">
            <a:avLst/>
          </a:prstGeom>
          <a:solidFill>
            <a:srgbClr val="2028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80560" y="580644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7727A"/>
                </a:solidFill>
              </a:defRPr>
            </a:pPr>
            <a:r>
              <a:t>2044 median DB pension balance sheet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94360" y="6510528"/>
            <a:ext cx="10972800" cy="18288"/>
          </a:xfrm>
          <a:prstGeom prst="rect">
            <a:avLst/>
          </a:prstGeom>
          <a:solidFill>
            <a:srgbClr val="D8DE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4360" y="6556248"/>
            <a:ext cx="9875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7727A"/>
                </a:solidFill>
              </a:defRPr>
            </a:pPr>
            <a:r>
              <a:t>USPS OIG 2026 Project • Digital story derived from June 2026 preliminary stochastic results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0" y="6537960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7727A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9B54A"/>
                </a:solidFill>
              </a:defRPr>
            </a:pPr>
            <a:r>
              <a:t>STORY 9 • EXECUTIVE TAKEAWAY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858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A2F66"/>
                </a:solidFill>
              </a:defRPr>
            </a:pPr>
            <a:r>
              <a:t>The digital story: return, plan design, and risk must be read together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463040"/>
            <a:ext cx="3383280" cy="1828800"/>
          </a:xfrm>
          <a:prstGeom prst="roundRect">
            <a:avLst/>
          </a:prstGeom>
          <a:solidFill>
            <a:srgbClr val="F3F6F8"/>
          </a:solidFill>
          <a:ln>
            <a:solidFill>
              <a:srgbClr val="D9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29260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39B54A"/>
                </a:solidFill>
              </a:defRPr>
            </a:pPr>
            <a:r>
              <a:t>119%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212848"/>
            <a:ext cx="29260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202832"/>
                </a:solidFill>
              </a:defRPr>
            </a:pPr>
            <a:r>
              <a:t>Highest 2044 median funded ratio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697480"/>
            <a:ext cx="29260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7727A"/>
                </a:solidFill>
              </a:defRPr>
            </a:pPr>
            <a:r>
              <a:t>Diversified investment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463040"/>
            <a:ext cx="3383280" cy="1828800"/>
          </a:xfrm>
          <a:prstGeom prst="roundRect">
            <a:avLst/>
          </a:prstGeom>
          <a:solidFill>
            <a:srgbClr val="F3F6F8"/>
          </a:solidFill>
          <a:ln>
            <a:solidFill>
              <a:srgbClr val="D9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1645920"/>
            <a:ext cx="29260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A2F66"/>
                </a:solidFill>
              </a:defRPr>
            </a:pPr>
            <a:r>
              <a:t>81%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7720" y="2212848"/>
            <a:ext cx="29260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202832"/>
                </a:solidFill>
              </a:defRPr>
            </a:pPr>
            <a:r>
              <a:t>Strongest 2044 downside funded ratio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20" y="2697480"/>
            <a:ext cx="29260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7727A"/>
                </a:solidFill>
              </a:defRPr>
            </a:pPr>
            <a:r>
              <a:t>Closed DB plan, 5th percentile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92440" y="1463040"/>
            <a:ext cx="3383280" cy="1828800"/>
          </a:xfrm>
          <a:prstGeom prst="roundRect">
            <a:avLst/>
          </a:prstGeom>
          <a:solidFill>
            <a:srgbClr val="F3F6F8"/>
          </a:solidFill>
          <a:ln>
            <a:solidFill>
              <a:srgbClr val="D9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1040" y="1645920"/>
            <a:ext cx="29260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A2F66"/>
                </a:solidFill>
              </a:defRPr>
            </a:pPr>
            <a:r>
              <a:t>99%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2212848"/>
            <a:ext cx="29260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202832"/>
                </a:solidFill>
              </a:defRPr>
            </a:pPr>
            <a:r>
              <a:t>Near-full funding at 2044 median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2697480"/>
            <a:ext cx="29260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7727A"/>
                </a:solidFill>
              </a:defRPr>
            </a:pPr>
            <a:r>
              <a:t>Higher new-hire contribution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749039"/>
            <a:ext cx="104241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700">
                <a:solidFill>
                  <a:srgbClr val="202832"/>
                </a:solidFill>
              </a:defRPr>
            </a:pPr>
            <a:r>
              <a:t>• Investment diversification delivers the largest median and upside gains, but materially increases downside dispersion.</a:t>
            </a:r>
          </a:p>
          <a:p>
            <a:pPr>
              <a:spcAft>
                <a:spcPts val="1400"/>
              </a:spcAft>
              <a:defRPr sz="1700">
                <a:solidFill>
                  <a:srgbClr val="202832"/>
                </a:solidFill>
              </a:defRPr>
            </a:pPr>
            <a:r>
              <a:t>• Closing the DB plan improves both median outcomes and the downside funded ratio while keeping the investment assumption comparable to status quo.</a:t>
            </a:r>
          </a:p>
          <a:p>
            <a:pPr>
              <a:spcAft>
                <a:spcPts val="1400"/>
              </a:spcAft>
              <a:defRPr sz="1700">
                <a:solidFill>
                  <a:srgbClr val="202832"/>
                </a:solidFill>
              </a:defRPr>
            </a:pPr>
            <a:r>
              <a:t>• Fixed COLA provides a smaller improvement; higher new-hire contributions produce a larger improvement and nearly eliminate the median 2044 balance-sheet deficit.</a:t>
            </a:r>
          </a:p>
          <a:p>
            <a:pPr>
              <a:spcAft>
                <a:spcPts val="1400"/>
              </a:spcAft>
              <a:defRPr sz="1700">
                <a:solidFill>
                  <a:srgbClr val="202832"/>
                </a:solidFill>
              </a:defRPr>
            </a:pPr>
            <a:r>
              <a:t>• These are draft preliminary stochastic results; the source does not prescribe a preferred policy choice.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4360" y="6510528"/>
            <a:ext cx="10972800" cy="18288"/>
          </a:xfrm>
          <a:prstGeom prst="rect">
            <a:avLst/>
          </a:prstGeom>
          <a:solidFill>
            <a:srgbClr val="D8DE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6556248"/>
            <a:ext cx="9875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7727A"/>
                </a:solidFill>
              </a:defRPr>
            </a:pPr>
            <a:r>
              <a:t>USPS OIG 2026 Project • Digital story derived from June 2026 preliminary stochastic results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0" y="6537960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7727A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9B54A"/>
                </a:solidFill>
              </a:defRPr>
            </a:pPr>
            <a:r>
              <a:t>APPENDIX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858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A2F66"/>
                </a:solidFill>
              </a:defRPr>
            </a:pPr>
            <a:r>
              <a:t>Source 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554480"/>
            <a:ext cx="102412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700">
                <a:solidFill>
                  <a:srgbClr val="202832"/>
                </a:solidFill>
              </a:defRPr>
            </a:pPr>
            <a:r>
              <a:t>• Original slide 2: Scenario 1 funded ratio; slide 3: Scenario 1 balance sheet.</a:t>
            </a:r>
          </a:p>
          <a:p>
            <a:pPr>
              <a:spcAft>
                <a:spcPts val="1400"/>
              </a:spcAft>
              <a:defRPr sz="1700">
                <a:solidFill>
                  <a:srgbClr val="202832"/>
                </a:solidFill>
              </a:defRPr>
            </a:pPr>
            <a:r>
              <a:t>• Original slides 4–5: Scenario 2 funded ratio and balance sheet.</a:t>
            </a:r>
          </a:p>
          <a:p>
            <a:pPr>
              <a:spcAft>
                <a:spcPts val="1400"/>
              </a:spcAft>
              <a:defRPr sz="1700">
                <a:solidFill>
                  <a:srgbClr val="202832"/>
                </a:solidFill>
              </a:defRPr>
            </a:pPr>
            <a:r>
              <a:t>• Original slides 6–7: Scenario 3 funded ratio and balance sheet.</a:t>
            </a:r>
          </a:p>
          <a:p>
            <a:pPr>
              <a:spcAft>
                <a:spcPts val="1400"/>
              </a:spcAft>
              <a:defRPr sz="1700">
                <a:solidFill>
                  <a:srgbClr val="202832"/>
                </a:solidFill>
              </a:defRPr>
            </a:pPr>
            <a:r>
              <a:t>• Original slides 8–9: Scenario 4 funded ratio and balance sheet.</a:t>
            </a:r>
          </a:p>
          <a:p>
            <a:pPr>
              <a:spcAft>
                <a:spcPts val="1400"/>
              </a:spcAft>
              <a:defRPr sz="1700">
                <a:solidFill>
                  <a:srgbClr val="202832"/>
                </a:solidFill>
              </a:defRPr>
            </a:pPr>
            <a:r>
              <a:t>• All numeric claims in this digital-story deck are transcribed or calculated directly from those source tables; no external data were added.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510528"/>
            <a:ext cx="10972800" cy="18288"/>
          </a:xfrm>
          <a:prstGeom prst="rect">
            <a:avLst/>
          </a:prstGeom>
          <a:solidFill>
            <a:srgbClr val="D8DE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556248"/>
            <a:ext cx="9875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7727A"/>
                </a:solidFill>
              </a:defRPr>
            </a:pPr>
            <a:r>
              <a:t>USPS OIG 2026 Project • Digital story derived from June 2026 preliminary stochastic results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537960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7727A"/>
                </a:solidFill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